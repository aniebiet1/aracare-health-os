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24"/>
                </a:solidFill>
                <a:latin typeface="+mn-lt"/>
              </a:defRPr>
            </a:pPr>
            <a:r>
              <a:rPr sz="1300" b="0" i="0" u="none" strike="noStrike">
                <a:solidFill>
                  <a:srgbClr val="0B2E24"/>
                </a:solidFill>
                <a:latin typeface="+mn-lt"/>
              </a:rPr>
              <a:t>Load test: requests handled per second</a:t>
            </a:r>
          </a:p>
        </c:rich>
      </c:tx>
      <c:layout/>
      <c:overlay val="0"/>
    </c:title>
    <c:autoTitleDeleted val="0"/>
    <c:plotArea>
      <c:layout/>
      <c:lineChart>
        <c:varyColors val="0"/>
        <c:ser>
          <c:idx val="0"/>
          <c:order val="0"/>
          <c:tx>
            <c:strRef>
              <c:f>Sheet1!$B$1</c:f>
              <c:strCache>
                <c:ptCount val="1"/>
                <c:pt idx="0">
                  <c:v>Before fix</c:v>
                </c:pt>
              </c:strCache>
            </c:strRef>
          </c:tx>
          <c:spPr>
            <a:solidFill>
              <a:srgbClr val="B5533C"/>
            </a:solidFill>
            <a:ln w="38100" cap="flat">
              <a:solidFill>
                <a:srgbClr val="B553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B5533C"/>
              </a:solidFill>
              <a:ln w="9525" cap="flat">
                <a:solidFill>
                  <a:srgbClr val="B5533C"/>
                </a:solidFill>
                <a:prstDash val="solid"/>
                <a:round/>
              </a:ln>
              <a:effectLst/>
            </c:spPr>
          </c:marker>
          <c:cat>
            <c:multiLvlStrRef>
              <c:f>Sheet1!$A$2:$A$6</c:f>
              <c:multiLvlStrCache>
                <c:ptCount val="5"/>
                <c:lvl>
                  <c:pt idx="0">
                    <c:v>1</c:v>
                  </c:pt>
                  <c:pt idx="1">
                    <c:v>5</c:v>
                  </c:pt>
                  <c:pt idx="2">
                    <c:v>10</c:v>
                  </c:pt>
                  <c:pt idx="3">
                    <c:v>20</c:v>
                  </c:pt>
                  <c:pt idx="4">
                    <c:v>40</c:v>
                  </c:pt>
                </c:lvl>
              </c:multiLvlStrCache>
            </c:multiLvlStrRef>
          </c:cat>
          <c:val>
            <c:numRef>
              <c:f>Sheet1!$B$2:$B$6</c:f>
              <c:numCache>
                <c:formatCode>General</c:formatCode>
                <c:ptCount val="5"/>
                <c:pt idx="0">
                  <c:v>12</c:v>
                </c:pt>
                <c:pt idx="1">
                  <c:v>14</c:v>
                </c:pt>
                <c:pt idx="2">
                  <c:v>15</c:v>
                </c:pt>
                <c:pt idx="3">
                  <c:v>15</c:v>
                </c:pt>
                <c:pt idx="4">
                  <c:v>14</c:v>
                </c:pt>
              </c:numCache>
            </c:numRef>
          </c:val>
          <c:smooth val="0"/>
        </c:ser>
        <c:ser>
          <c:idx val="1"/>
          <c:order val="1"/>
          <c:tx>
            <c:strRef>
              <c:f>Sheet1!$C$1</c:f>
              <c:strCache>
                <c:ptCount val="1"/>
                <c:pt idx="0">
                  <c:v>After fix</c:v>
                </c:pt>
              </c:strCache>
            </c:strRef>
          </c:tx>
          <c:spPr>
            <a:solidFill>
              <a:srgbClr val="14513E"/>
            </a:solidFill>
            <a:ln w="38100" cap="flat">
              <a:solidFill>
                <a:srgbClr val="1451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4513E"/>
              </a:solidFill>
              <a:ln w="9525" cap="flat">
                <a:solidFill>
                  <a:srgbClr val="14513E"/>
                </a:solidFill>
                <a:prstDash val="solid"/>
                <a:round/>
              </a:ln>
              <a:effectLst/>
            </c:spPr>
          </c:marker>
          <c:cat>
            <c:multiLvlStrRef>
              <c:f>Sheet1!$A$2:$A$6</c:f>
              <c:multiLvlStrCache>
                <c:ptCount val="5"/>
                <c:lvl>
                  <c:pt idx="0">
                    <c:v>1</c:v>
                  </c:pt>
                  <c:pt idx="1">
                    <c:v>5</c:v>
                  </c:pt>
                  <c:pt idx="2">
                    <c:v>10</c:v>
                  </c:pt>
                  <c:pt idx="3">
                    <c:v>20</c:v>
                  </c:pt>
                  <c:pt idx="4">
                    <c:v>40</c:v>
                  </c:pt>
                </c:lvl>
              </c:multiLvlStrCache>
            </c:multiLvlStrRef>
          </c:cat>
          <c:val>
            <c:numRef>
              <c:f>Sheet1!$C$2:$C$6</c:f>
              <c:numCache>
                <c:formatCode>General</c:formatCode>
                <c:ptCount val="5"/>
                <c:pt idx="0">
                  <c:v>45</c:v>
                </c:pt>
                <c:pt idx="1">
                  <c:v>78</c:v>
                </c:pt>
                <c:pt idx="2">
                  <c:v>112</c:v>
                </c:pt>
                <c:pt idx="3">
                  <c:v>134</c:v>
                </c:pt>
                <c:pt idx="4">
                  <c:v>139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64"/>
                    </a:solidFill>
                    <a:latin typeface="+mn-lt"/>
                  </a:defRPr>
                </a:pPr>
                <a:r>
                  <a:rPr sz="1100" b="0" i="0" u="none" strike="noStrike">
                    <a:solidFill>
                      <a:srgbClr val="5B6B64"/>
                    </a:solidFill>
                    <a:latin typeface="+mn-lt"/>
                  </a:rPr>
                  <a:t>Concurrent requests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E2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624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question for the panel: anyone who has attended a public hospital in Nigeria knows this experience. The project is AraCare Health OS, a hospital operating system built for Nigerian facilities. State your name, matric number and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composite patient: Mrs. Ngozi, with a feverish child. She arrives before sunrise because she knows what the queue is like. There is no ticket and no order; the queue is whoever pushed in first. Ask the panel to recall their own experience. Note this is a composite scenario used to illustrate the observed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desk, her file cannot be found. With paper records, the file is in a shelf, in another department, or misplaced. The consequence is a new file and a lost history: previous diagnoses, allergies and prescriptions disappear. Point out that this is a patient-safety issue, not only an inconvenience.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Facilities run on inverters and generators. Power and connectivity fail mid-consultation. This photo is from a real working environment. The design implication: a cloud-only system is not viable here. Whatever we build must keep working on the facility's local network when the internet or power is interrupted.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 finally reaches the doctor. The doctor's time is split between the patient and the paperwork. Notes are written by hand, in addition to examining, diagnosing and prescribing. Every minute spent writing is a minute not spent listening. This is the gap the AI scribe addresses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turning point. Four problems: no queue order, lost records, unreliable infrastructure, documentation burden. AraCare answers each with a module. Walk the flow left to right: Registration and check-in, the queue engine, the electronic health record with triage and SOAP notes, and the AI voice scribe. Billing and pharmacy are designed and have event hooks, but are not built yet; say so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Clients (reception, nurse, doctor, admin) talk to one FastAPI server per facility. The API is organised into modules: core, registration, queues, EHR and scribe, joined by an internal event system. PostgreSQL in production, SQLite in development, schema managed by Alembic. A WebSocket hub pushes live queue updates. Important caveat: run exactly one API process, because the queue sweeper and WebSocket hub are in-process; scaling out would require Redis pub/sub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voice scribe addresses slide 5. Audio from the consultation is transcribed locally by Whisper through faster-whisper, then a local LLM, Qwen 2.5 7B through Ollama, structures the text into a SOAP note draft. The clinician always reviews and approves the draft. Everything runs on the facility's own machine: no cloud API, no per-call cost, and patient data never leaves the building. Likely examiner question: accuracy with Nigerian accents and clinical terms; answer: the model size is configurable and the clinician review step is the safeguard.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that the system is engineered, not just demonstrated. Left: load test of the /predict endpoint. Before the fix throughput stayed flat at about 14 requests per second regardless of concurrency; after the fix it scales to about 139 per second at 40 concurrent requests. Note this endpoint is from the supporting ML service, tested as a separate load test. Right: safeguards in the AraCare backend: 36 automated tests, account lockout after 5 wrong passwords for 15 minutes, forced password change for the first admin, the server refusing to start in production with a weak secret or wildcard CORS, and sessions invalidated on password or role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Mrs. Ngozi: on her next visit she is registered once, receives a queue position, her history is already on screen, and the doctor can listen while the scribe drafts the note. Then be straightforward about limits: the first release covers registration, queue, EHR and the scribe. Billing, pharmacy and cloud sync are designed but not built. Thank the panel and invite questions. The photo is the developer working on the system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24"/>
        </a:solidFill>
      </p:bgPr>
    </p:bg>
    <p:spTree>
      <p:nvGrpSpPr>
        <p:cNvPr id="1" name=""/>
        <p:cNvGrpSpPr/>
        <p:nvPr/>
      </p:nvGrpSpPr>
      <p:grpSpPr>
        <a:xfrm>
          <a:off x="0" y="0"/>
          <a:ext cx="0" cy="0"/>
          <a:chOff x="0" y="0"/>
          <a:chExt cx="0" cy="0"/>
        </a:xfrm>
      </p:grpSpPr>
      <p:sp>
        <p:nvSpPr>
          <p:cNvPr id="2"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9CC5B2"/>
                </a:solidFill>
                <a:latin typeface="Calibri" pitchFamily="34" charset="0"/>
                <a:ea typeface="Calibri" pitchFamily="34" charset="-122"/>
                <a:cs typeface="Calibri" pitchFamily="34" charset="-120"/>
              </a:rPr>
              <a:t>AraCare Health OS</a:t>
            </a:r>
            <a:endParaRPr lang="en-US" sz="1000" dirty="0"/>
          </a:p>
        </p:txBody>
      </p:sp>
      <p:sp>
        <p:nvSpPr>
          <p:cNvPr id="3"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01 / 10</a:t>
            </a:r>
            <a:endParaRPr lang="en-US" sz="1000" dirty="0"/>
          </a:p>
        </p:txBody>
      </p:sp>
      <p:sp>
        <p:nvSpPr>
          <p:cNvPr id="5" name="Network link"/>
          <p:cNvSpPr/>
          <p:nvPr/>
        </p:nvSpPr>
        <p:spPr>
          <a:xfrm flipV="1">
            <a:off x="5760720" y="731520"/>
            <a:ext cx="1188720" cy="274320"/>
          </a:xfrm>
          <a:prstGeom prst="line">
            <a:avLst/>
          </a:prstGeom>
          <a:noFill/>
          <a:ln w="15875">
            <a:solidFill>
              <a:srgbClr val="14513E"/>
            </a:solidFill>
            <a:prstDash val="solid"/>
          </a:ln>
        </p:spPr>
      </p:sp>
      <p:sp>
        <p:nvSpPr>
          <p:cNvPr id="6" name="Network link"/>
          <p:cNvSpPr/>
          <p:nvPr/>
        </p:nvSpPr>
        <p:spPr>
          <a:xfrm>
            <a:off x="6949440" y="731520"/>
            <a:ext cx="1188720" cy="640080"/>
          </a:xfrm>
          <a:prstGeom prst="line">
            <a:avLst/>
          </a:prstGeom>
          <a:noFill/>
          <a:ln w="15875">
            <a:solidFill>
              <a:srgbClr val="14513E"/>
            </a:solidFill>
            <a:prstDash val="solid"/>
          </a:ln>
        </p:spPr>
      </p:sp>
      <p:sp>
        <p:nvSpPr>
          <p:cNvPr id="7" name="Network link"/>
          <p:cNvSpPr/>
          <p:nvPr/>
        </p:nvSpPr>
        <p:spPr>
          <a:xfrm>
            <a:off x="5760720" y="1005840"/>
            <a:ext cx="640080" cy="1005840"/>
          </a:xfrm>
          <a:prstGeom prst="line">
            <a:avLst/>
          </a:prstGeom>
          <a:noFill/>
          <a:ln w="15875">
            <a:solidFill>
              <a:srgbClr val="14513E"/>
            </a:solidFill>
            <a:prstDash val="solid"/>
          </a:ln>
        </p:spPr>
      </p:sp>
      <p:sp>
        <p:nvSpPr>
          <p:cNvPr id="8" name="Network link"/>
          <p:cNvSpPr/>
          <p:nvPr/>
        </p:nvSpPr>
        <p:spPr>
          <a:xfrm flipV="1">
            <a:off x="6400800" y="731520"/>
            <a:ext cx="548640" cy="1280160"/>
          </a:xfrm>
          <a:prstGeom prst="line">
            <a:avLst/>
          </a:prstGeom>
          <a:noFill/>
          <a:ln w="15875">
            <a:solidFill>
              <a:srgbClr val="14513E"/>
            </a:solidFill>
            <a:prstDash val="solid"/>
          </a:ln>
        </p:spPr>
      </p:sp>
      <p:sp>
        <p:nvSpPr>
          <p:cNvPr id="9" name="Network link"/>
          <p:cNvSpPr/>
          <p:nvPr/>
        </p:nvSpPr>
        <p:spPr>
          <a:xfrm>
            <a:off x="6400800" y="2011680"/>
            <a:ext cx="1188720" cy="457200"/>
          </a:xfrm>
          <a:prstGeom prst="line">
            <a:avLst/>
          </a:prstGeom>
          <a:noFill/>
          <a:ln w="15875">
            <a:solidFill>
              <a:srgbClr val="14513E"/>
            </a:solidFill>
            <a:prstDash val="solid"/>
          </a:ln>
        </p:spPr>
      </p:sp>
      <p:sp>
        <p:nvSpPr>
          <p:cNvPr id="10" name="Network link"/>
          <p:cNvSpPr/>
          <p:nvPr/>
        </p:nvSpPr>
        <p:spPr>
          <a:xfrm flipV="1">
            <a:off x="7589520" y="1371600"/>
            <a:ext cx="548640" cy="1097280"/>
          </a:xfrm>
          <a:prstGeom prst="line">
            <a:avLst/>
          </a:prstGeom>
          <a:noFill/>
          <a:ln w="15875">
            <a:solidFill>
              <a:srgbClr val="14513E"/>
            </a:solidFill>
            <a:prstDash val="solid"/>
          </a:ln>
        </p:spPr>
      </p:sp>
      <p:sp>
        <p:nvSpPr>
          <p:cNvPr id="11" name="Network link"/>
          <p:cNvSpPr/>
          <p:nvPr/>
        </p:nvSpPr>
        <p:spPr>
          <a:xfrm>
            <a:off x="7589520" y="2468880"/>
            <a:ext cx="914400" cy="731520"/>
          </a:xfrm>
          <a:prstGeom prst="line">
            <a:avLst/>
          </a:prstGeom>
          <a:noFill/>
          <a:ln w="15875">
            <a:solidFill>
              <a:srgbClr val="14513E"/>
            </a:solidFill>
            <a:prstDash val="solid"/>
          </a:ln>
        </p:spPr>
      </p:sp>
      <p:sp>
        <p:nvSpPr>
          <p:cNvPr id="12" name="Network link"/>
          <p:cNvSpPr/>
          <p:nvPr/>
        </p:nvSpPr>
        <p:spPr>
          <a:xfrm flipV="1">
            <a:off x="5669280" y="2011680"/>
            <a:ext cx="731520" cy="822960"/>
          </a:xfrm>
          <a:prstGeom prst="line">
            <a:avLst/>
          </a:prstGeom>
          <a:noFill/>
          <a:ln w="15875">
            <a:solidFill>
              <a:srgbClr val="14513E"/>
            </a:solidFill>
            <a:prstDash val="solid"/>
          </a:ln>
        </p:spPr>
      </p:sp>
      <p:sp>
        <p:nvSpPr>
          <p:cNvPr id="13" name="Network link"/>
          <p:cNvSpPr/>
          <p:nvPr/>
        </p:nvSpPr>
        <p:spPr>
          <a:xfrm flipV="1">
            <a:off x="6766560" y="2468880"/>
            <a:ext cx="822960" cy="822960"/>
          </a:xfrm>
          <a:prstGeom prst="line">
            <a:avLst/>
          </a:prstGeom>
          <a:noFill/>
          <a:ln w="15875">
            <a:solidFill>
              <a:srgbClr val="14513E"/>
            </a:solidFill>
            <a:prstDash val="solid"/>
          </a:ln>
        </p:spPr>
      </p:sp>
      <p:sp>
        <p:nvSpPr>
          <p:cNvPr id="14" name="Network link"/>
          <p:cNvSpPr/>
          <p:nvPr/>
        </p:nvSpPr>
        <p:spPr>
          <a:xfrm>
            <a:off x="5669280" y="2834640"/>
            <a:ext cx="1097280" cy="457200"/>
          </a:xfrm>
          <a:prstGeom prst="line">
            <a:avLst/>
          </a:prstGeom>
          <a:noFill/>
          <a:ln w="15875">
            <a:solidFill>
              <a:srgbClr val="14513E"/>
            </a:solidFill>
            <a:prstDash val="solid"/>
          </a:ln>
        </p:spPr>
      </p:sp>
      <p:sp>
        <p:nvSpPr>
          <p:cNvPr id="15" name="Network link"/>
          <p:cNvSpPr/>
          <p:nvPr/>
        </p:nvSpPr>
        <p:spPr>
          <a:xfrm flipV="1">
            <a:off x="7863840" y="3200400"/>
            <a:ext cx="640080" cy="822960"/>
          </a:xfrm>
          <a:prstGeom prst="line">
            <a:avLst/>
          </a:prstGeom>
          <a:noFill/>
          <a:ln w="15875">
            <a:solidFill>
              <a:srgbClr val="14513E"/>
            </a:solidFill>
            <a:prstDash val="solid"/>
          </a:ln>
        </p:spPr>
      </p:sp>
      <p:sp>
        <p:nvSpPr>
          <p:cNvPr id="16" name="Network link"/>
          <p:cNvSpPr/>
          <p:nvPr/>
        </p:nvSpPr>
        <p:spPr>
          <a:xfrm>
            <a:off x="6766560" y="3291840"/>
            <a:ext cx="1097280" cy="731520"/>
          </a:xfrm>
          <a:prstGeom prst="line">
            <a:avLst/>
          </a:prstGeom>
          <a:noFill/>
          <a:ln w="15875">
            <a:solidFill>
              <a:srgbClr val="14513E"/>
            </a:solidFill>
            <a:prstDash val="solid"/>
          </a:ln>
        </p:spPr>
      </p:sp>
      <p:sp>
        <p:nvSpPr>
          <p:cNvPr id="17" name="Network node"/>
          <p:cNvSpPr/>
          <p:nvPr/>
        </p:nvSpPr>
        <p:spPr>
          <a:xfrm>
            <a:off x="5605272" y="850392"/>
            <a:ext cx="310896" cy="310896"/>
          </a:xfrm>
          <a:prstGeom prst="ellipse">
            <a:avLst/>
          </a:prstGeom>
          <a:solidFill>
            <a:srgbClr val="3E8E6E"/>
          </a:solidFill>
          <a:ln w="12700">
            <a:solidFill>
              <a:srgbClr val="0B2E24"/>
            </a:solidFill>
            <a:prstDash val="solid"/>
          </a:ln>
        </p:spPr>
      </p:sp>
      <p:sp>
        <p:nvSpPr>
          <p:cNvPr id="18" name="Network node"/>
          <p:cNvSpPr/>
          <p:nvPr/>
        </p:nvSpPr>
        <p:spPr>
          <a:xfrm>
            <a:off x="6848856" y="630936"/>
            <a:ext cx="201168" cy="201168"/>
          </a:xfrm>
          <a:prstGeom prst="ellipse">
            <a:avLst/>
          </a:prstGeom>
          <a:solidFill>
            <a:srgbClr val="3E8E6E"/>
          </a:solidFill>
          <a:ln w="12700">
            <a:solidFill>
              <a:srgbClr val="0B2E24"/>
            </a:solidFill>
            <a:prstDash val="solid"/>
          </a:ln>
        </p:spPr>
      </p:sp>
      <p:sp>
        <p:nvSpPr>
          <p:cNvPr id="19" name="Network node"/>
          <p:cNvSpPr/>
          <p:nvPr/>
        </p:nvSpPr>
        <p:spPr>
          <a:xfrm>
            <a:off x="8037576" y="1271016"/>
            <a:ext cx="201168" cy="201168"/>
          </a:xfrm>
          <a:prstGeom prst="ellipse">
            <a:avLst/>
          </a:prstGeom>
          <a:solidFill>
            <a:srgbClr val="3E8E6E"/>
          </a:solidFill>
          <a:ln w="12700">
            <a:solidFill>
              <a:srgbClr val="0B2E24"/>
            </a:solidFill>
            <a:prstDash val="solid"/>
          </a:ln>
        </p:spPr>
      </p:sp>
      <p:sp>
        <p:nvSpPr>
          <p:cNvPr id="20" name="Network node"/>
          <p:cNvSpPr/>
          <p:nvPr/>
        </p:nvSpPr>
        <p:spPr>
          <a:xfrm>
            <a:off x="6245352" y="1856232"/>
            <a:ext cx="310896" cy="310896"/>
          </a:xfrm>
          <a:prstGeom prst="ellipse">
            <a:avLst/>
          </a:prstGeom>
          <a:solidFill>
            <a:srgbClr val="3E8E6E"/>
          </a:solidFill>
          <a:ln w="12700">
            <a:solidFill>
              <a:srgbClr val="0B2E24"/>
            </a:solidFill>
            <a:prstDash val="solid"/>
          </a:ln>
        </p:spPr>
      </p:sp>
      <p:sp>
        <p:nvSpPr>
          <p:cNvPr id="21" name="Network node"/>
          <p:cNvSpPr/>
          <p:nvPr/>
        </p:nvSpPr>
        <p:spPr>
          <a:xfrm>
            <a:off x="7488936" y="2368296"/>
            <a:ext cx="201168" cy="201168"/>
          </a:xfrm>
          <a:prstGeom prst="ellipse">
            <a:avLst/>
          </a:prstGeom>
          <a:solidFill>
            <a:srgbClr val="D4A93C"/>
          </a:solidFill>
          <a:ln w="12700">
            <a:solidFill>
              <a:srgbClr val="0B2E24"/>
            </a:solidFill>
            <a:prstDash val="solid"/>
          </a:ln>
        </p:spPr>
      </p:sp>
      <p:sp>
        <p:nvSpPr>
          <p:cNvPr id="22" name="Network node"/>
          <p:cNvSpPr/>
          <p:nvPr/>
        </p:nvSpPr>
        <p:spPr>
          <a:xfrm>
            <a:off x="8403336" y="3099816"/>
            <a:ext cx="201168" cy="201168"/>
          </a:xfrm>
          <a:prstGeom prst="ellipse">
            <a:avLst/>
          </a:prstGeom>
          <a:solidFill>
            <a:srgbClr val="3E8E6E"/>
          </a:solidFill>
          <a:ln w="12700">
            <a:solidFill>
              <a:srgbClr val="0B2E24"/>
            </a:solidFill>
            <a:prstDash val="solid"/>
          </a:ln>
        </p:spPr>
      </p:sp>
      <p:sp>
        <p:nvSpPr>
          <p:cNvPr id="23" name="Network node"/>
          <p:cNvSpPr/>
          <p:nvPr/>
        </p:nvSpPr>
        <p:spPr>
          <a:xfrm>
            <a:off x="6611112" y="3136392"/>
            <a:ext cx="310896" cy="310896"/>
          </a:xfrm>
          <a:prstGeom prst="ellipse">
            <a:avLst/>
          </a:prstGeom>
          <a:solidFill>
            <a:srgbClr val="3E8E6E"/>
          </a:solidFill>
          <a:ln w="12700">
            <a:solidFill>
              <a:srgbClr val="0B2E24"/>
            </a:solidFill>
            <a:prstDash val="solid"/>
          </a:ln>
        </p:spPr>
      </p:sp>
      <p:sp>
        <p:nvSpPr>
          <p:cNvPr id="24" name="Network node"/>
          <p:cNvSpPr/>
          <p:nvPr/>
        </p:nvSpPr>
        <p:spPr>
          <a:xfrm>
            <a:off x="5568696" y="2734056"/>
            <a:ext cx="201168" cy="201168"/>
          </a:xfrm>
          <a:prstGeom prst="ellipse">
            <a:avLst/>
          </a:prstGeom>
          <a:solidFill>
            <a:srgbClr val="3E8E6E"/>
          </a:solidFill>
          <a:ln w="12700">
            <a:solidFill>
              <a:srgbClr val="0B2E24"/>
            </a:solidFill>
            <a:prstDash val="solid"/>
          </a:ln>
        </p:spPr>
      </p:sp>
      <p:sp>
        <p:nvSpPr>
          <p:cNvPr id="25" name="Network node"/>
          <p:cNvSpPr/>
          <p:nvPr/>
        </p:nvSpPr>
        <p:spPr>
          <a:xfrm>
            <a:off x="7763256" y="3922776"/>
            <a:ext cx="201168" cy="201168"/>
          </a:xfrm>
          <a:prstGeom prst="ellipse">
            <a:avLst/>
          </a:prstGeom>
          <a:solidFill>
            <a:srgbClr val="3E8E6E"/>
          </a:solidFill>
          <a:ln w="12700">
            <a:solidFill>
              <a:srgbClr val="0B2E24"/>
            </a:solidFill>
            <a:prstDash val="solid"/>
          </a:ln>
        </p:spPr>
      </p:sp>
      <p:sp>
        <p:nvSpPr>
          <p:cNvPr id="26" name="Kicker"/>
          <p:cNvSpPr txBox="1"/>
          <p:nvPr/>
        </p:nvSpPr>
        <p:spPr>
          <a:xfrm>
            <a:off x="548640" y="822960"/>
            <a:ext cx="4572000" cy="274320"/>
          </a:xfrm>
          <a:prstGeom prst="rect">
            <a:avLst/>
          </a:prstGeom>
          <a:noFill/>
          <a:ln/>
        </p:spPr>
        <p:txBody>
          <a:bodyPr wrap="square" lIns="0" tIns="0" rIns="0" bIns="0" rtlCol="0" anchor="ctr"/>
          <a:lstStyle/>
          <a:p>
            <a:pPr indent="0" marL="0">
              <a:buNone/>
            </a:pPr>
            <a:r>
              <a:rPr lang="en-US" sz="1200" b="1" spc="400" kern="0" dirty="0">
                <a:solidFill>
                  <a:srgbClr val="D4A93C"/>
                </a:solidFill>
                <a:latin typeface="Calibri" pitchFamily="34" charset="0"/>
                <a:ea typeface="Calibri" pitchFamily="34" charset="-122"/>
                <a:cs typeface="Calibri" pitchFamily="34" charset="-120"/>
              </a:rPr>
              <a:t>PROJECT DEFENSE</a:t>
            </a:r>
            <a:endParaRPr lang="en-US" sz="1200" dirty="0"/>
          </a:p>
        </p:txBody>
      </p:sp>
      <p:sp>
        <p:nvSpPr>
          <p:cNvPr id="27" name="Title"/>
          <p:cNvSpPr txBox="1"/>
          <p:nvPr/>
        </p:nvSpPr>
        <p:spPr>
          <a:xfrm>
            <a:off x="548640" y="1234440"/>
            <a:ext cx="5120640" cy="164592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AraCare</a:t>
            </a:r>
            <a:endParaRPr lang="en-US" sz="5200" dirty="0"/>
          </a:p>
          <a:p>
            <a:pPr indent="0" marL="0">
              <a:buNone/>
            </a:pPr>
            <a:r>
              <a:rPr lang="en-US" sz="5200" b="1" dirty="0">
                <a:solidFill>
                  <a:srgbClr val="FFFFFF"/>
                </a:solidFill>
                <a:latin typeface="Cambria" pitchFamily="34" charset="0"/>
                <a:ea typeface="Cambria" pitchFamily="34" charset="-122"/>
                <a:cs typeface="Cambria" pitchFamily="34" charset="-120"/>
              </a:rPr>
              <a:t>Health OS</a:t>
            </a:r>
            <a:endParaRPr lang="en-US" sz="5200" dirty="0"/>
          </a:p>
        </p:txBody>
      </p:sp>
      <p:sp>
        <p:nvSpPr>
          <p:cNvPr id="28" name="Subtitle"/>
          <p:cNvSpPr txBox="1"/>
          <p:nvPr/>
        </p:nvSpPr>
        <p:spPr>
          <a:xfrm>
            <a:off x="548640" y="3017520"/>
            <a:ext cx="4754880" cy="731520"/>
          </a:xfrm>
          <a:prstGeom prst="rect">
            <a:avLst/>
          </a:prstGeom>
          <a:noFill/>
          <a:ln/>
        </p:spPr>
        <p:txBody>
          <a:bodyPr wrap="square" lIns="0" tIns="0" rIns="0" bIns="0" rtlCol="0" anchor="t"/>
          <a:lstStyle/>
          <a:p>
            <a:pPr indent="0" marL="0">
              <a:buNone/>
            </a:pPr>
            <a:r>
              <a:rPr lang="en-US" sz="1800" i="1" dirty="0">
                <a:solidFill>
                  <a:srgbClr val="9CC5B2"/>
                </a:solidFill>
                <a:latin typeface="Calibri" pitchFamily="34" charset="0"/>
                <a:ea typeface="Calibri" pitchFamily="34" charset="-122"/>
                <a:cs typeface="Calibri" pitchFamily="34" charset="-120"/>
              </a:rPr>
              <a:t>A hospital operating system built for how Nigerian facilities actually run.</a:t>
            </a:r>
            <a:endParaRPr lang="en-US" sz="1800" dirty="0"/>
          </a:p>
        </p:txBody>
      </p:sp>
      <p:sp>
        <p:nvSpPr>
          <p:cNvPr id="29" name="Presenter details"/>
          <p:cNvSpPr txBox="1"/>
          <p:nvPr/>
        </p:nvSpPr>
        <p:spPr>
          <a:xfrm>
            <a:off x="548640" y="4160520"/>
            <a:ext cx="5669280" cy="274320"/>
          </a:xfrm>
          <a:prstGeom prst="rect">
            <a:avLst/>
          </a:prstGeom>
          <a:noFill/>
          <a:ln/>
        </p:spPr>
        <p:txBody>
          <a:bodyPr wrap="square" lIns="0" tIns="0" rIns="0" bIns="0" rtlCol="0" anchor="ctr"/>
          <a:lstStyle/>
          <a:p>
            <a:pPr indent="0" marL="0">
              <a:buNone/>
            </a:pPr>
            <a:r>
              <a:rPr lang="en-US" sz="1200" dirty="0">
                <a:solidFill>
                  <a:srgbClr val="E3EEE8"/>
                </a:solidFill>
                <a:latin typeface="Calibri" pitchFamily="34" charset="0"/>
                <a:ea typeface="Calibri" pitchFamily="34" charset="-122"/>
                <a:cs typeface="Calibri" pitchFamily="34" charset="-120"/>
              </a:rPr>
              <a:t>[Your name]  ·  [Matric no.]  ·  Supervisor: [Name]  ·  [Department]</a:t>
            </a:r>
            <a:endParaRPr lang="en-US" sz="1200" dirty="0"/>
          </a:p>
        </p:txBody>
      </p:sp>
      <p:sp>
        <p:nvSpPr>
          <p:cNvPr id="30"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01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E24"/>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D4A93C"/>
                </a:solidFill>
                <a:latin typeface="Calibri" pitchFamily="34" charset="0"/>
                <a:ea typeface="Calibri" pitchFamily="34" charset="-122"/>
                <a:cs typeface="Calibri" pitchFamily="34" charset="-120"/>
              </a:rPr>
              <a:t>PART 1  ·  THE PATIENT'S DAY</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9CC5B2"/>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02 / 10</a:t>
            </a:r>
            <a:endParaRPr lang="en-US" sz="1000" dirty="0"/>
          </a:p>
        </p:txBody>
      </p:sp>
      <p:sp>
        <p:nvSpPr>
          <p:cNvPr id="6" name="Title"/>
          <p:cNvSpPr txBox="1"/>
          <p:nvPr/>
        </p:nvSpPr>
        <p:spPr>
          <a:xfrm>
            <a:off x="548640" y="685800"/>
            <a:ext cx="4297680" cy="10058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Before sunrise, the line has formed</a:t>
            </a:r>
            <a:endParaRPr lang="en-US" sz="3000" dirty="0"/>
          </a:p>
        </p:txBody>
      </p:sp>
      <p:sp>
        <p:nvSpPr>
          <p:cNvPr id="7" name="Body"/>
          <p:cNvSpPr txBox="1"/>
          <p:nvPr/>
        </p:nvSpPr>
        <p:spPr>
          <a:xfrm>
            <a:off x="548640" y="1737360"/>
            <a:ext cx="3931920" cy="2194560"/>
          </a:xfrm>
          <a:prstGeom prst="rect">
            <a:avLst/>
          </a:prstGeom>
          <a:noFill/>
          <a:ln/>
        </p:spPr>
        <p:txBody>
          <a:bodyPr wrap="square" lIns="0" tIns="0" rIns="0" bIns="0" rtlCol="0" anchor="t"/>
          <a:lstStyle/>
          <a:p>
            <a:pPr indent="0" marL="0">
              <a:buNone/>
            </a:pPr>
            <a:r>
              <a:rPr lang="en-US" sz="1600" dirty="0">
                <a:solidFill>
                  <a:srgbClr val="E3EEE8"/>
                </a:solidFill>
                <a:latin typeface="Calibri" pitchFamily="34" charset="0"/>
                <a:ea typeface="Calibri" pitchFamily="34" charset="-122"/>
                <a:cs typeface="Calibri" pitchFamily="34" charset="-120"/>
              </a:rPr>
              <a:t>Her child has a fever. She joins the line early, because she knows what the day will look like.</a:t>
            </a:r>
            <a:endParaRPr lang="en-US" sz="1600" dirty="0"/>
          </a:p>
          <a:p>
            <a:pPr indent="0" marL="0">
              <a:buNone/>
            </a:pPr>
            <a:r>
              <a:rPr lang="en-US" sz="800" dirty="0">
                <a:solidFill>
                  <a:srgbClr val="E3EEE8"/>
                </a:solidFill>
                <a:latin typeface="Calibri" pitchFamily="34" charset="0"/>
                <a:ea typeface="Calibri" pitchFamily="34" charset="-122"/>
                <a:cs typeface="Calibri" pitchFamily="34" charset="-120"/>
              </a:rPr>
              <a:t> </a:t>
            </a:r>
            <a:endParaRPr lang="en-US" sz="1600" dirty="0"/>
          </a:p>
          <a:p>
            <a:pPr indent="0" marL="0">
              <a:buNone/>
            </a:pPr>
            <a:r>
              <a:rPr lang="en-US" sz="1600" dirty="0">
                <a:solidFill>
                  <a:srgbClr val="E3EEE8"/>
                </a:solidFill>
                <a:latin typeface="Calibri" pitchFamily="34" charset="0"/>
                <a:ea typeface="Calibri" pitchFamily="34" charset="-122"/>
                <a:cs typeface="Calibri" pitchFamily="34" charset="-120"/>
              </a:rPr>
              <a:t>There is no ticket, no order and no estimate. Place in line is decided by who pushes in first, and every patient waits without knowing for how long.</a:t>
            </a:r>
            <a:endParaRPr lang="en-US" sz="1600" dirty="0"/>
          </a:p>
        </p:txBody>
      </p:sp>
      <p:sp>
        <p:nvSpPr>
          <p:cNvPr id="8" name="Person head"/>
          <p:cNvSpPr/>
          <p:nvPr/>
        </p:nvSpPr>
        <p:spPr>
          <a:xfrm>
            <a:off x="5138928" y="914400"/>
            <a:ext cx="182880" cy="182880"/>
          </a:xfrm>
          <a:prstGeom prst="ellipse">
            <a:avLst/>
          </a:prstGeom>
          <a:solidFill>
            <a:srgbClr val="9CC5B2"/>
          </a:solidFill>
          <a:ln w="12700">
            <a:solidFill>
              <a:srgbClr val="0B2E24"/>
            </a:solidFill>
            <a:prstDash val="solid"/>
          </a:ln>
        </p:spPr>
      </p:sp>
      <p:sp>
        <p:nvSpPr>
          <p:cNvPr id="9" name="Person body"/>
          <p:cNvSpPr/>
          <p:nvPr/>
        </p:nvSpPr>
        <p:spPr>
          <a:xfrm>
            <a:off x="5074920" y="1133856"/>
            <a:ext cx="310896" cy="329184"/>
          </a:xfrm>
          <a:prstGeom prst="roundRect">
            <a:avLst>
              <a:gd name="adj" fmla="val 29412"/>
            </a:avLst>
          </a:prstGeom>
          <a:solidFill>
            <a:srgbClr val="3E8E6E"/>
          </a:solidFill>
          <a:ln w="12700">
            <a:solidFill>
              <a:srgbClr val="0B2E24"/>
            </a:solidFill>
            <a:prstDash val="solid"/>
          </a:ln>
        </p:spPr>
      </p:sp>
      <p:sp>
        <p:nvSpPr>
          <p:cNvPr id="10" name="Person head"/>
          <p:cNvSpPr/>
          <p:nvPr/>
        </p:nvSpPr>
        <p:spPr>
          <a:xfrm>
            <a:off x="5559552" y="914400"/>
            <a:ext cx="182880" cy="182880"/>
          </a:xfrm>
          <a:prstGeom prst="ellipse">
            <a:avLst/>
          </a:prstGeom>
          <a:solidFill>
            <a:srgbClr val="9CC5B2"/>
          </a:solidFill>
          <a:ln w="12700">
            <a:solidFill>
              <a:srgbClr val="0B2E24"/>
            </a:solidFill>
            <a:prstDash val="solid"/>
          </a:ln>
        </p:spPr>
      </p:sp>
      <p:sp>
        <p:nvSpPr>
          <p:cNvPr id="11" name="Person body"/>
          <p:cNvSpPr/>
          <p:nvPr/>
        </p:nvSpPr>
        <p:spPr>
          <a:xfrm>
            <a:off x="5495544" y="1133856"/>
            <a:ext cx="310896" cy="329184"/>
          </a:xfrm>
          <a:prstGeom prst="roundRect">
            <a:avLst>
              <a:gd name="adj" fmla="val 29412"/>
            </a:avLst>
          </a:prstGeom>
          <a:solidFill>
            <a:srgbClr val="14513E"/>
          </a:solidFill>
          <a:ln w="12700">
            <a:solidFill>
              <a:srgbClr val="0B2E24"/>
            </a:solidFill>
            <a:prstDash val="solid"/>
          </a:ln>
        </p:spPr>
      </p:sp>
      <p:sp>
        <p:nvSpPr>
          <p:cNvPr id="12" name="Person head"/>
          <p:cNvSpPr/>
          <p:nvPr/>
        </p:nvSpPr>
        <p:spPr>
          <a:xfrm>
            <a:off x="5980176" y="914400"/>
            <a:ext cx="182880" cy="182880"/>
          </a:xfrm>
          <a:prstGeom prst="ellipse">
            <a:avLst/>
          </a:prstGeom>
          <a:solidFill>
            <a:srgbClr val="9CC5B2"/>
          </a:solidFill>
          <a:ln w="12700">
            <a:solidFill>
              <a:srgbClr val="0B2E24"/>
            </a:solidFill>
            <a:prstDash val="solid"/>
          </a:ln>
        </p:spPr>
      </p:sp>
      <p:sp>
        <p:nvSpPr>
          <p:cNvPr id="13" name="Person body"/>
          <p:cNvSpPr/>
          <p:nvPr/>
        </p:nvSpPr>
        <p:spPr>
          <a:xfrm>
            <a:off x="5916168" y="1133856"/>
            <a:ext cx="310896" cy="329184"/>
          </a:xfrm>
          <a:prstGeom prst="roundRect">
            <a:avLst>
              <a:gd name="adj" fmla="val 29412"/>
            </a:avLst>
          </a:prstGeom>
          <a:solidFill>
            <a:srgbClr val="1D6B52"/>
          </a:solidFill>
          <a:ln w="12700">
            <a:solidFill>
              <a:srgbClr val="0B2E24"/>
            </a:solidFill>
            <a:prstDash val="solid"/>
          </a:ln>
        </p:spPr>
      </p:sp>
      <p:sp>
        <p:nvSpPr>
          <p:cNvPr id="14" name="Person head"/>
          <p:cNvSpPr/>
          <p:nvPr/>
        </p:nvSpPr>
        <p:spPr>
          <a:xfrm>
            <a:off x="6400800" y="914400"/>
            <a:ext cx="182880" cy="182880"/>
          </a:xfrm>
          <a:prstGeom prst="ellipse">
            <a:avLst/>
          </a:prstGeom>
          <a:solidFill>
            <a:srgbClr val="9CC5B2"/>
          </a:solidFill>
          <a:ln w="12700">
            <a:solidFill>
              <a:srgbClr val="0B2E24"/>
            </a:solidFill>
            <a:prstDash val="solid"/>
          </a:ln>
        </p:spPr>
      </p:sp>
      <p:sp>
        <p:nvSpPr>
          <p:cNvPr id="15" name="Person body"/>
          <p:cNvSpPr/>
          <p:nvPr/>
        </p:nvSpPr>
        <p:spPr>
          <a:xfrm>
            <a:off x="6336792" y="1133856"/>
            <a:ext cx="310896" cy="329184"/>
          </a:xfrm>
          <a:prstGeom prst="roundRect">
            <a:avLst>
              <a:gd name="adj" fmla="val 29412"/>
            </a:avLst>
          </a:prstGeom>
          <a:solidFill>
            <a:srgbClr val="3E8E6E"/>
          </a:solidFill>
          <a:ln w="12700">
            <a:solidFill>
              <a:srgbClr val="0B2E24"/>
            </a:solidFill>
            <a:prstDash val="solid"/>
          </a:ln>
        </p:spPr>
      </p:sp>
      <p:sp>
        <p:nvSpPr>
          <p:cNvPr id="16" name="Person head"/>
          <p:cNvSpPr/>
          <p:nvPr/>
        </p:nvSpPr>
        <p:spPr>
          <a:xfrm>
            <a:off x="6821424" y="914400"/>
            <a:ext cx="182880" cy="182880"/>
          </a:xfrm>
          <a:prstGeom prst="ellipse">
            <a:avLst/>
          </a:prstGeom>
          <a:solidFill>
            <a:srgbClr val="9CC5B2"/>
          </a:solidFill>
          <a:ln w="12700">
            <a:solidFill>
              <a:srgbClr val="0B2E24"/>
            </a:solidFill>
            <a:prstDash val="solid"/>
          </a:ln>
        </p:spPr>
      </p:sp>
      <p:sp>
        <p:nvSpPr>
          <p:cNvPr id="17" name="Person body"/>
          <p:cNvSpPr/>
          <p:nvPr/>
        </p:nvSpPr>
        <p:spPr>
          <a:xfrm>
            <a:off x="6757416" y="1133856"/>
            <a:ext cx="310896" cy="329184"/>
          </a:xfrm>
          <a:prstGeom prst="roundRect">
            <a:avLst>
              <a:gd name="adj" fmla="val 29412"/>
            </a:avLst>
          </a:prstGeom>
          <a:solidFill>
            <a:srgbClr val="14513E"/>
          </a:solidFill>
          <a:ln w="12700">
            <a:solidFill>
              <a:srgbClr val="0B2E24"/>
            </a:solidFill>
            <a:prstDash val="solid"/>
          </a:ln>
        </p:spPr>
      </p:sp>
      <p:sp>
        <p:nvSpPr>
          <p:cNvPr id="18" name="Person head"/>
          <p:cNvSpPr/>
          <p:nvPr/>
        </p:nvSpPr>
        <p:spPr>
          <a:xfrm>
            <a:off x="7242048" y="914400"/>
            <a:ext cx="182880" cy="182880"/>
          </a:xfrm>
          <a:prstGeom prst="ellipse">
            <a:avLst/>
          </a:prstGeom>
          <a:solidFill>
            <a:srgbClr val="9CC5B2"/>
          </a:solidFill>
          <a:ln w="12700">
            <a:solidFill>
              <a:srgbClr val="0B2E24"/>
            </a:solidFill>
            <a:prstDash val="solid"/>
          </a:ln>
        </p:spPr>
      </p:sp>
      <p:sp>
        <p:nvSpPr>
          <p:cNvPr id="19" name="Person body"/>
          <p:cNvSpPr/>
          <p:nvPr/>
        </p:nvSpPr>
        <p:spPr>
          <a:xfrm>
            <a:off x="7178040" y="1133856"/>
            <a:ext cx="310896" cy="329184"/>
          </a:xfrm>
          <a:prstGeom prst="roundRect">
            <a:avLst>
              <a:gd name="adj" fmla="val 29412"/>
            </a:avLst>
          </a:prstGeom>
          <a:solidFill>
            <a:srgbClr val="1D6B52"/>
          </a:solidFill>
          <a:ln w="12700">
            <a:solidFill>
              <a:srgbClr val="0B2E24"/>
            </a:solidFill>
            <a:prstDash val="solid"/>
          </a:ln>
        </p:spPr>
      </p:sp>
      <p:sp>
        <p:nvSpPr>
          <p:cNvPr id="20" name="Person head"/>
          <p:cNvSpPr/>
          <p:nvPr/>
        </p:nvSpPr>
        <p:spPr>
          <a:xfrm>
            <a:off x="7662672" y="914400"/>
            <a:ext cx="182880" cy="182880"/>
          </a:xfrm>
          <a:prstGeom prst="ellipse">
            <a:avLst/>
          </a:prstGeom>
          <a:solidFill>
            <a:srgbClr val="9CC5B2"/>
          </a:solidFill>
          <a:ln w="12700">
            <a:solidFill>
              <a:srgbClr val="0B2E24"/>
            </a:solidFill>
            <a:prstDash val="solid"/>
          </a:ln>
        </p:spPr>
      </p:sp>
      <p:sp>
        <p:nvSpPr>
          <p:cNvPr id="21" name="Person body"/>
          <p:cNvSpPr/>
          <p:nvPr/>
        </p:nvSpPr>
        <p:spPr>
          <a:xfrm>
            <a:off x="7598664" y="1133856"/>
            <a:ext cx="310896" cy="329184"/>
          </a:xfrm>
          <a:prstGeom prst="roundRect">
            <a:avLst>
              <a:gd name="adj" fmla="val 29412"/>
            </a:avLst>
          </a:prstGeom>
          <a:solidFill>
            <a:srgbClr val="3E8E6E"/>
          </a:solidFill>
          <a:ln w="12700">
            <a:solidFill>
              <a:srgbClr val="0B2E24"/>
            </a:solidFill>
            <a:prstDash val="solid"/>
          </a:ln>
        </p:spPr>
      </p:sp>
      <p:sp>
        <p:nvSpPr>
          <p:cNvPr id="22" name="Person head"/>
          <p:cNvSpPr/>
          <p:nvPr/>
        </p:nvSpPr>
        <p:spPr>
          <a:xfrm>
            <a:off x="8083296" y="914400"/>
            <a:ext cx="182880" cy="182880"/>
          </a:xfrm>
          <a:prstGeom prst="ellipse">
            <a:avLst/>
          </a:prstGeom>
          <a:solidFill>
            <a:srgbClr val="9CC5B2"/>
          </a:solidFill>
          <a:ln w="12700">
            <a:solidFill>
              <a:srgbClr val="0B2E24"/>
            </a:solidFill>
            <a:prstDash val="solid"/>
          </a:ln>
        </p:spPr>
      </p:sp>
      <p:sp>
        <p:nvSpPr>
          <p:cNvPr id="23" name="Person body"/>
          <p:cNvSpPr/>
          <p:nvPr/>
        </p:nvSpPr>
        <p:spPr>
          <a:xfrm>
            <a:off x="8019288" y="1133856"/>
            <a:ext cx="310896" cy="329184"/>
          </a:xfrm>
          <a:prstGeom prst="roundRect">
            <a:avLst>
              <a:gd name="adj" fmla="val 29412"/>
            </a:avLst>
          </a:prstGeom>
          <a:solidFill>
            <a:srgbClr val="14513E"/>
          </a:solidFill>
          <a:ln w="12700">
            <a:solidFill>
              <a:srgbClr val="0B2E24"/>
            </a:solidFill>
            <a:prstDash val="solid"/>
          </a:ln>
        </p:spPr>
      </p:sp>
      <p:sp>
        <p:nvSpPr>
          <p:cNvPr id="24" name="Person head"/>
          <p:cNvSpPr/>
          <p:nvPr/>
        </p:nvSpPr>
        <p:spPr>
          <a:xfrm>
            <a:off x="5248656" y="1627632"/>
            <a:ext cx="182880" cy="182880"/>
          </a:xfrm>
          <a:prstGeom prst="ellipse">
            <a:avLst/>
          </a:prstGeom>
          <a:solidFill>
            <a:srgbClr val="9CC5B2"/>
          </a:solidFill>
          <a:ln w="12700">
            <a:solidFill>
              <a:srgbClr val="0B2E24"/>
            </a:solidFill>
            <a:prstDash val="solid"/>
          </a:ln>
        </p:spPr>
      </p:sp>
      <p:sp>
        <p:nvSpPr>
          <p:cNvPr id="25" name="Person body"/>
          <p:cNvSpPr/>
          <p:nvPr/>
        </p:nvSpPr>
        <p:spPr>
          <a:xfrm>
            <a:off x="5184648" y="1847088"/>
            <a:ext cx="310896" cy="329184"/>
          </a:xfrm>
          <a:prstGeom prst="roundRect">
            <a:avLst>
              <a:gd name="adj" fmla="val 29412"/>
            </a:avLst>
          </a:prstGeom>
          <a:solidFill>
            <a:srgbClr val="14513E"/>
          </a:solidFill>
          <a:ln w="12700">
            <a:solidFill>
              <a:srgbClr val="0B2E24"/>
            </a:solidFill>
            <a:prstDash val="solid"/>
          </a:ln>
        </p:spPr>
      </p:sp>
      <p:sp>
        <p:nvSpPr>
          <p:cNvPr id="26" name="Person head"/>
          <p:cNvSpPr/>
          <p:nvPr/>
        </p:nvSpPr>
        <p:spPr>
          <a:xfrm>
            <a:off x="5669280" y="1627632"/>
            <a:ext cx="182880" cy="182880"/>
          </a:xfrm>
          <a:prstGeom prst="ellipse">
            <a:avLst/>
          </a:prstGeom>
          <a:solidFill>
            <a:srgbClr val="9CC5B2"/>
          </a:solidFill>
          <a:ln w="12700">
            <a:solidFill>
              <a:srgbClr val="0B2E24"/>
            </a:solidFill>
            <a:prstDash val="solid"/>
          </a:ln>
        </p:spPr>
      </p:sp>
      <p:sp>
        <p:nvSpPr>
          <p:cNvPr id="27" name="Person body"/>
          <p:cNvSpPr/>
          <p:nvPr/>
        </p:nvSpPr>
        <p:spPr>
          <a:xfrm>
            <a:off x="5605272" y="1847088"/>
            <a:ext cx="310896" cy="329184"/>
          </a:xfrm>
          <a:prstGeom prst="roundRect">
            <a:avLst>
              <a:gd name="adj" fmla="val 29412"/>
            </a:avLst>
          </a:prstGeom>
          <a:solidFill>
            <a:srgbClr val="1D6B52"/>
          </a:solidFill>
          <a:ln w="12700">
            <a:solidFill>
              <a:srgbClr val="0B2E24"/>
            </a:solidFill>
            <a:prstDash val="solid"/>
          </a:ln>
        </p:spPr>
      </p:sp>
      <p:sp>
        <p:nvSpPr>
          <p:cNvPr id="28" name="Person head"/>
          <p:cNvSpPr/>
          <p:nvPr/>
        </p:nvSpPr>
        <p:spPr>
          <a:xfrm>
            <a:off x="6089904" y="1627632"/>
            <a:ext cx="182880" cy="182880"/>
          </a:xfrm>
          <a:prstGeom prst="ellipse">
            <a:avLst/>
          </a:prstGeom>
          <a:solidFill>
            <a:srgbClr val="9CC5B2"/>
          </a:solidFill>
          <a:ln w="12700">
            <a:solidFill>
              <a:srgbClr val="0B2E24"/>
            </a:solidFill>
            <a:prstDash val="solid"/>
          </a:ln>
        </p:spPr>
      </p:sp>
      <p:sp>
        <p:nvSpPr>
          <p:cNvPr id="29" name="Person body"/>
          <p:cNvSpPr/>
          <p:nvPr/>
        </p:nvSpPr>
        <p:spPr>
          <a:xfrm>
            <a:off x="6025896" y="1847088"/>
            <a:ext cx="310896" cy="329184"/>
          </a:xfrm>
          <a:prstGeom prst="roundRect">
            <a:avLst>
              <a:gd name="adj" fmla="val 29412"/>
            </a:avLst>
          </a:prstGeom>
          <a:solidFill>
            <a:srgbClr val="3E8E6E"/>
          </a:solidFill>
          <a:ln w="12700">
            <a:solidFill>
              <a:srgbClr val="0B2E24"/>
            </a:solidFill>
            <a:prstDash val="solid"/>
          </a:ln>
        </p:spPr>
      </p:sp>
      <p:sp>
        <p:nvSpPr>
          <p:cNvPr id="30" name="Person head"/>
          <p:cNvSpPr/>
          <p:nvPr/>
        </p:nvSpPr>
        <p:spPr>
          <a:xfrm>
            <a:off x="6510528" y="1627632"/>
            <a:ext cx="182880" cy="182880"/>
          </a:xfrm>
          <a:prstGeom prst="ellipse">
            <a:avLst/>
          </a:prstGeom>
          <a:solidFill>
            <a:srgbClr val="9CC5B2"/>
          </a:solidFill>
          <a:ln w="12700">
            <a:solidFill>
              <a:srgbClr val="0B2E24"/>
            </a:solidFill>
            <a:prstDash val="solid"/>
          </a:ln>
        </p:spPr>
      </p:sp>
      <p:sp>
        <p:nvSpPr>
          <p:cNvPr id="31" name="Person body"/>
          <p:cNvSpPr/>
          <p:nvPr/>
        </p:nvSpPr>
        <p:spPr>
          <a:xfrm>
            <a:off x="6446520" y="1847088"/>
            <a:ext cx="310896" cy="329184"/>
          </a:xfrm>
          <a:prstGeom prst="roundRect">
            <a:avLst>
              <a:gd name="adj" fmla="val 29412"/>
            </a:avLst>
          </a:prstGeom>
          <a:solidFill>
            <a:srgbClr val="14513E"/>
          </a:solidFill>
          <a:ln w="12700">
            <a:solidFill>
              <a:srgbClr val="0B2E24"/>
            </a:solidFill>
            <a:prstDash val="solid"/>
          </a:ln>
        </p:spPr>
      </p:sp>
      <p:sp>
        <p:nvSpPr>
          <p:cNvPr id="32" name="Person head"/>
          <p:cNvSpPr/>
          <p:nvPr/>
        </p:nvSpPr>
        <p:spPr>
          <a:xfrm>
            <a:off x="6931152" y="1627632"/>
            <a:ext cx="182880" cy="182880"/>
          </a:xfrm>
          <a:prstGeom prst="ellipse">
            <a:avLst/>
          </a:prstGeom>
          <a:solidFill>
            <a:srgbClr val="9CC5B2"/>
          </a:solidFill>
          <a:ln w="12700">
            <a:solidFill>
              <a:srgbClr val="0B2E24"/>
            </a:solidFill>
            <a:prstDash val="solid"/>
          </a:ln>
        </p:spPr>
      </p:sp>
      <p:sp>
        <p:nvSpPr>
          <p:cNvPr id="33" name="Person body"/>
          <p:cNvSpPr/>
          <p:nvPr/>
        </p:nvSpPr>
        <p:spPr>
          <a:xfrm>
            <a:off x="6867144" y="1847088"/>
            <a:ext cx="310896" cy="329184"/>
          </a:xfrm>
          <a:prstGeom prst="roundRect">
            <a:avLst>
              <a:gd name="adj" fmla="val 29412"/>
            </a:avLst>
          </a:prstGeom>
          <a:solidFill>
            <a:srgbClr val="1D6B52"/>
          </a:solidFill>
          <a:ln w="12700">
            <a:solidFill>
              <a:srgbClr val="0B2E24"/>
            </a:solidFill>
            <a:prstDash val="solid"/>
          </a:ln>
        </p:spPr>
      </p:sp>
      <p:sp>
        <p:nvSpPr>
          <p:cNvPr id="34" name="Person head"/>
          <p:cNvSpPr/>
          <p:nvPr/>
        </p:nvSpPr>
        <p:spPr>
          <a:xfrm>
            <a:off x="7351776" y="1627632"/>
            <a:ext cx="182880" cy="182880"/>
          </a:xfrm>
          <a:prstGeom prst="ellipse">
            <a:avLst/>
          </a:prstGeom>
          <a:solidFill>
            <a:srgbClr val="9CC5B2"/>
          </a:solidFill>
          <a:ln w="12700">
            <a:solidFill>
              <a:srgbClr val="0B2E24"/>
            </a:solidFill>
            <a:prstDash val="solid"/>
          </a:ln>
        </p:spPr>
      </p:sp>
      <p:sp>
        <p:nvSpPr>
          <p:cNvPr id="35" name="Person body"/>
          <p:cNvSpPr/>
          <p:nvPr/>
        </p:nvSpPr>
        <p:spPr>
          <a:xfrm>
            <a:off x="7287768" y="1847088"/>
            <a:ext cx="310896" cy="329184"/>
          </a:xfrm>
          <a:prstGeom prst="roundRect">
            <a:avLst>
              <a:gd name="adj" fmla="val 29412"/>
            </a:avLst>
          </a:prstGeom>
          <a:solidFill>
            <a:srgbClr val="3E8E6E"/>
          </a:solidFill>
          <a:ln w="12700">
            <a:solidFill>
              <a:srgbClr val="0B2E24"/>
            </a:solidFill>
            <a:prstDash val="solid"/>
          </a:ln>
        </p:spPr>
      </p:sp>
      <p:sp>
        <p:nvSpPr>
          <p:cNvPr id="36" name="Person head"/>
          <p:cNvSpPr/>
          <p:nvPr/>
        </p:nvSpPr>
        <p:spPr>
          <a:xfrm>
            <a:off x="7772400" y="1627632"/>
            <a:ext cx="182880" cy="182880"/>
          </a:xfrm>
          <a:prstGeom prst="ellipse">
            <a:avLst/>
          </a:prstGeom>
          <a:solidFill>
            <a:srgbClr val="9CC5B2"/>
          </a:solidFill>
          <a:ln w="12700">
            <a:solidFill>
              <a:srgbClr val="0B2E24"/>
            </a:solidFill>
            <a:prstDash val="solid"/>
          </a:ln>
        </p:spPr>
      </p:sp>
      <p:sp>
        <p:nvSpPr>
          <p:cNvPr id="37" name="Person body"/>
          <p:cNvSpPr/>
          <p:nvPr/>
        </p:nvSpPr>
        <p:spPr>
          <a:xfrm>
            <a:off x="7708392" y="1847088"/>
            <a:ext cx="310896" cy="329184"/>
          </a:xfrm>
          <a:prstGeom prst="roundRect">
            <a:avLst>
              <a:gd name="adj" fmla="val 29412"/>
            </a:avLst>
          </a:prstGeom>
          <a:solidFill>
            <a:srgbClr val="14513E"/>
          </a:solidFill>
          <a:ln w="12700">
            <a:solidFill>
              <a:srgbClr val="0B2E24"/>
            </a:solidFill>
            <a:prstDash val="solid"/>
          </a:ln>
        </p:spPr>
      </p:sp>
      <p:sp>
        <p:nvSpPr>
          <p:cNvPr id="38" name="Person head"/>
          <p:cNvSpPr/>
          <p:nvPr/>
        </p:nvSpPr>
        <p:spPr>
          <a:xfrm>
            <a:off x="8193024" y="1627632"/>
            <a:ext cx="182880" cy="182880"/>
          </a:xfrm>
          <a:prstGeom prst="ellipse">
            <a:avLst/>
          </a:prstGeom>
          <a:solidFill>
            <a:srgbClr val="9CC5B2"/>
          </a:solidFill>
          <a:ln w="12700">
            <a:solidFill>
              <a:srgbClr val="0B2E24"/>
            </a:solidFill>
            <a:prstDash val="solid"/>
          </a:ln>
        </p:spPr>
      </p:sp>
      <p:sp>
        <p:nvSpPr>
          <p:cNvPr id="39" name="Person body"/>
          <p:cNvSpPr/>
          <p:nvPr/>
        </p:nvSpPr>
        <p:spPr>
          <a:xfrm>
            <a:off x="8129016" y="1847088"/>
            <a:ext cx="310896" cy="329184"/>
          </a:xfrm>
          <a:prstGeom prst="roundRect">
            <a:avLst>
              <a:gd name="adj" fmla="val 29412"/>
            </a:avLst>
          </a:prstGeom>
          <a:solidFill>
            <a:srgbClr val="1D6B52"/>
          </a:solidFill>
          <a:ln w="12700">
            <a:solidFill>
              <a:srgbClr val="0B2E24"/>
            </a:solidFill>
            <a:prstDash val="solid"/>
          </a:ln>
        </p:spPr>
      </p:sp>
      <p:sp>
        <p:nvSpPr>
          <p:cNvPr id="40" name="Person head"/>
          <p:cNvSpPr/>
          <p:nvPr/>
        </p:nvSpPr>
        <p:spPr>
          <a:xfrm>
            <a:off x="5138928" y="2340864"/>
            <a:ext cx="182880" cy="182880"/>
          </a:xfrm>
          <a:prstGeom prst="ellipse">
            <a:avLst/>
          </a:prstGeom>
          <a:solidFill>
            <a:srgbClr val="9CC5B2"/>
          </a:solidFill>
          <a:ln w="12700">
            <a:solidFill>
              <a:srgbClr val="0B2E24"/>
            </a:solidFill>
            <a:prstDash val="solid"/>
          </a:ln>
        </p:spPr>
      </p:sp>
      <p:sp>
        <p:nvSpPr>
          <p:cNvPr id="41" name="Person body"/>
          <p:cNvSpPr/>
          <p:nvPr/>
        </p:nvSpPr>
        <p:spPr>
          <a:xfrm>
            <a:off x="5074920" y="2560320"/>
            <a:ext cx="310896" cy="329184"/>
          </a:xfrm>
          <a:prstGeom prst="roundRect">
            <a:avLst>
              <a:gd name="adj" fmla="val 29412"/>
            </a:avLst>
          </a:prstGeom>
          <a:solidFill>
            <a:srgbClr val="1D6B52"/>
          </a:solidFill>
          <a:ln w="12700">
            <a:solidFill>
              <a:srgbClr val="0B2E24"/>
            </a:solidFill>
            <a:prstDash val="solid"/>
          </a:ln>
        </p:spPr>
      </p:sp>
      <p:sp>
        <p:nvSpPr>
          <p:cNvPr id="42" name="Person head"/>
          <p:cNvSpPr/>
          <p:nvPr/>
        </p:nvSpPr>
        <p:spPr>
          <a:xfrm>
            <a:off x="5559552" y="2340864"/>
            <a:ext cx="182880" cy="182880"/>
          </a:xfrm>
          <a:prstGeom prst="ellipse">
            <a:avLst/>
          </a:prstGeom>
          <a:solidFill>
            <a:srgbClr val="9CC5B2"/>
          </a:solidFill>
          <a:ln w="12700">
            <a:solidFill>
              <a:srgbClr val="0B2E24"/>
            </a:solidFill>
            <a:prstDash val="solid"/>
          </a:ln>
        </p:spPr>
      </p:sp>
      <p:sp>
        <p:nvSpPr>
          <p:cNvPr id="43" name="Person body"/>
          <p:cNvSpPr/>
          <p:nvPr/>
        </p:nvSpPr>
        <p:spPr>
          <a:xfrm>
            <a:off x="5495544" y="2560320"/>
            <a:ext cx="310896" cy="329184"/>
          </a:xfrm>
          <a:prstGeom prst="roundRect">
            <a:avLst>
              <a:gd name="adj" fmla="val 29412"/>
            </a:avLst>
          </a:prstGeom>
          <a:solidFill>
            <a:srgbClr val="3E8E6E"/>
          </a:solidFill>
          <a:ln w="12700">
            <a:solidFill>
              <a:srgbClr val="0B2E24"/>
            </a:solidFill>
            <a:prstDash val="solid"/>
          </a:ln>
        </p:spPr>
      </p:sp>
      <p:sp>
        <p:nvSpPr>
          <p:cNvPr id="44" name="Person head"/>
          <p:cNvSpPr/>
          <p:nvPr/>
        </p:nvSpPr>
        <p:spPr>
          <a:xfrm>
            <a:off x="5980176" y="2340864"/>
            <a:ext cx="182880" cy="182880"/>
          </a:xfrm>
          <a:prstGeom prst="ellipse">
            <a:avLst/>
          </a:prstGeom>
          <a:solidFill>
            <a:srgbClr val="9CC5B2"/>
          </a:solidFill>
          <a:ln w="12700">
            <a:solidFill>
              <a:srgbClr val="0B2E24"/>
            </a:solidFill>
            <a:prstDash val="solid"/>
          </a:ln>
        </p:spPr>
      </p:sp>
      <p:sp>
        <p:nvSpPr>
          <p:cNvPr id="45" name="Person body"/>
          <p:cNvSpPr/>
          <p:nvPr/>
        </p:nvSpPr>
        <p:spPr>
          <a:xfrm>
            <a:off x="5916168" y="2560320"/>
            <a:ext cx="310896" cy="329184"/>
          </a:xfrm>
          <a:prstGeom prst="roundRect">
            <a:avLst>
              <a:gd name="adj" fmla="val 29412"/>
            </a:avLst>
          </a:prstGeom>
          <a:solidFill>
            <a:srgbClr val="14513E"/>
          </a:solidFill>
          <a:ln w="12700">
            <a:solidFill>
              <a:srgbClr val="0B2E24"/>
            </a:solidFill>
            <a:prstDash val="solid"/>
          </a:ln>
        </p:spPr>
      </p:sp>
      <p:sp>
        <p:nvSpPr>
          <p:cNvPr id="46" name="Person head"/>
          <p:cNvSpPr/>
          <p:nvPr/>
        </p:nvSpPr>
        <p:spPr>
          <a:xfrm>
            <a:off x="6400800" y="2340864"/>
            <a:ext cx="182880" cy="182880"/>
          </a:xfrm>
          <a:prstGeom prst="ellipse">
            <a:avLst/>
          </a:prstGeom>
          <a:solidFill>
            <a:srgbClr val="9CC5B2"/>
          </a:solidFill>
          <a:ln w="12700">
            <a:solidFill>
              <a:srgbClr val="0B2E24"/>
            </a:solidFill>
            <a:prstDash val="solid"/>
          </a:ln>
        </p:spPr>
      </p:sp>
      <p:sp>
        <p:nvSpPr>
          <p:cNvPr id="47" name="Person body"/>
          <p:cNvSpPr/>
          <p:nvPr/>
        </p:nvSpPr>
        <p:spPr>
          <a:xfrm>
            <a:off x="6336792" y="2560320"/>
            <a:ext cx="310896" cy="329184"/>
          </a:xfrm>
          <a:prstGeom prst="roundRect">
            <a:avLst>
              <a:gd name="adj" fmla="val 29412"/>
            </a:avLst>
          </a:prstGeom>
          <a:solidFill>
            <a:srgbClr val="1D6B52"/>
          </a:solidFill>
          <a:ln w="12700">
            <a:solidFill>
              <a:srgbClr val="0B2E24"/>
            </a:solidFill>
            <a:prstDash val="solid"/>
          </a:ln>
        </p:spPr>
      </p:sp>
      <p:sp>
        <p:nvSpPr>
          <p:cNvPr id="48" name="Person head"/>
          <p:cNvSpPr/>
          <p:nvPr/>
        </p:nvSpPr>
        <p:spPr>
          <a:xfrm>
            <a:off x="6821424" y="2340864"/>
            <a:ext cx="182880" cy="182880"/>
          </a:xfrm>
          <a:prstGeom prst="ellipse">
            <a:avLst/>
          </a:prstGeom>
          <a:solidFill>
            <a:srgbClr val="9CC5B2"/>
          </a:solidFill>
          <a:ln w="12700">
            <a:solidFill>
              <a:srgbClr val="0B2E24"/>
            </a:solidFill>
            <a:prstDash val="solid"/>
          </a:ln>
        </p:spPr>
      </p:sp>
      <p:sp>
        <p:nvSpPr>
          <p:cNvPr id="49" name="Person body"/>
          <p:cNvSpPr/>
          <p:nvPr/>
        </p:nvSpPr>
        <p:spPr>
          <a:xfrm>
            <a:off x="6757416" y="2560320"/>
            <a:ext cx="310896" cy="329184"/>
          </a:xfrm>
          <a:prstGeom prst="roundRect">
            <a:avLst>
              <a:gd name="adj" fmla="val 29412"/>
            </a:avLst>
          </a:prstGeom>
          <a:solidFill>
            <a:srgbClr val="3E8E6E"/>
          </a:solidFill>
          <a:ln w="12700">
            <a:solidFill>
              <a:srgbClr val="0B2E24"/>
            </a:solidFill>
            <a:prstDash val="solid"/>
          </a:ln>
        </p:spPr>
      </p:sp>
      <p:sp>
        <p:nvSpPr>
          <p:cNvPr id="50" name="Person head"/>
          <p:cNvSpPr/>
          <p:nvPr/>
        </p:nvSpPr>
        <p:spPr>
          <a:xfrm>
            <a:off x="7242048" y="2340864"/>
            <a:ext cx="182880" cy="182880"/>
          </a:xfrm>
          <a:prstGeom prst="ellipse">
            <a:avLst/>
          </a:prstGeom>
          <a:solidFill>
            <a:srgbClr val="9CC5B2"/>
          </a:solidFill>
          <a:ln w="12700">
            <a:solidFill>
              <a:srgbClr val="0B2E24"/>
            </a:solidFill>
            <a:prstDash val="solid"/>
          </a:ln>
        </p:spPr>
      </p:sp>
      <p:sp>
        <p:nvSpPr>
          <p:cNvPr id="51" name="Person body"/>
          <p:cNvSpPr/>
          <p:nvPr/>
        </p:nvSpPr>
        <p:spPr>
          <a:xfrm>
            <a:off x="7178040" y="2560320"/>
            <a:ext cx="310896" cy="329184"/>
          </a:xfrm>
          <a:prstGeom prst="roundRect">
            <a:avLst>
              <a:gd name="adj" fmla="val 29412"/>
            </a:avLst>
          </a:prstGeom>
          <a:solidFill>
            <a:srgbClr val="14513E"/>
          </a:solidFill>
          <a:ln w="12700">
            <a:solidFill>
              <a:srgbClr val="0B2E24"/>
            </a:solidFill>
            <a:prstDash val="solid"/>
          </a:ln>
        </p:spPr>
      </p:sp>
      <p:sp>
        <p:nvSpPr>
          <p:cNvPr id="52" name="Person head"/>
          <p:cNvSpPr/>
          <p:nvPr/>
        </p:nvSpPr>
        <p:spPr>
          <a:xfrm>
            <a:off x="7662672" y="2340864"/>
            <a:ext cx="182880" cy="182880"/>
          </a:xfrm>
          <a:prstGeom prst="ellipse">
            <a:avLst/>
          </a:prstGeom>
          <a:solidFill>
            <a:srgbClr val="9CC5B2"/>
          </a:solidFill>
          <a:ln w="12700">
            <a:solidFill>
              <a:srgbClr val="0B2E24"/>
            </a:solidFill>
            <a:prstDash val="solid"/>
          </a:ln>
        </p:spPr>
      </p:sp>
      <p:sp>
        <p:nvSpPr>
          <p:cNvPr id="53" name="Person body"/>
          <p:cNvSpPr/>
          <p:nvPr/>
        </p:nvSpPr>
        <p:spPr>
          <a:xfrm>
            <a:off x="7598664" y="2560320"/>
            <a:ext cx="310896" cy="329184"/>
          </a:xfrm>
          <a:prstGeom prst="roundRect">
            <a:avLst>
              <a:gd name="adj" fmla="val 29412"/>
            </a:avLst>
          </a:prstGeom>
          <a:solidFill>
            <a:srgbClr val="1D6B52"/>
          </a:solidFill>
          <a:ln w="12700">
            <a:solidFill>
              <a:srgbClr val="0B2E24"/>
            </a:solidFill>
            <a:prstDash val="solid"/>
          </a:ln>
        </p:spPr>
      </p:sp>
      <p:sp>
        <p:nvSpPr>
          <p:cNvPr id="54" name="Person head"/>
          <p:cNvSpPr/>
          <p:nvPr/>
        </p:nvSpPr>
        <p:spPr>
          <a:xfrm>
            <a:off x="8083296" y="2340864"/>
            <a:ext cx="182880" cy="182880"/>
          </a:xfrm>
          <a:prstGeom prst="ellipse">
            <a:avLst/>
          </a:prstGeom>
          <a:solidFill>
            <a:srgbClr val="9CC5B2"/>
          </a:solidFill>
          <a:ln w="12700">
            <a:solidFill>
              <a:srgbClr val="0B2E24"/>
            </a:solidFill>
            <a:prstDash val="solid"/>
          </a:ln>
        </p:spPr>
      </p:sp>
      <p:sp>
        <p:nvSpPr>
          <p:cNvPr id="55" name="Person body"/>
          <p:cNvSpPr/>
          <p:nvPr/>
        </p:nvSpPr>
        <p:spPr>
          <a:xfrm>
            <a:off x="8019288" y="2560320"/>
            <a:ext cx="310896" cy="329184"/>
          </a:xfrm>
          <a:prstGeom prst="roundRect">
            <a:avLst>
              <a:gd name="adj" fmla="val 29412"/>
            </a:avLst>
          </a:prstGeom>
          <a:solidFill>
            <a:srgbClr val="3E8E6E"/>
          </a:solidFill>
          <a:ln w="12700">
            <a:solidFill>
              <a:srgbClr val="0B2E24"/>
            </a:solidFill>
            <a:prstDash val="solid"/>
          </a:ln>
        </p:spPr>
      </p:sp>
      <p:sp>
        <p:nvSpPr>
          <p:cNvPr id="56" name="Person head"/>
          <p:cNvSpPr/>
          <p:nvPr/>
        </p:nvSpPr>
        <p:spPr>
          <a:xfrm>
            <a:off x="5248656" y="3054096"/>
            <a:ext cx="182880" cy="182880"/>
          </a:xfrm>
          <a:prstGeom prst="ellipse">
            <a:avLst/>
          </a:prstGeom>
          <a:solidFill>
            <a:srgbClr val="9CC5B2"/>
          </a:solidFill>
          <a:ln w="12700">
            <a:solidFill>
              <a:srgbClr val="0B2E24"/>
            </a:solidFill>
            <a:prstDash val="solid"/>
          </a:ln>
        </p:spPr>
      </p:sp>
      <p:sp>
        <p:nvSpPr>
          <p:cNvPr id="57" name="Person body"/>
          <p:cNvSpPr/>
          <p:nvPr/>
        </p:nvSpPr>
        <p:spPr>
          <a:xfrm>
            <a:off x="5184648" y="3273552"/>
            <a:ext cx="310896" cy="329184"/>
          </a:xfrm>
          <a:prstGeom prst="roundRect">
            <a:avLst>
              <a:gd name="adj" fmla="val 29412"/>
            </a:avLst>
          </a:prstGeom>
          <a:solidFill>
            <a:srgbClr val="3E8E6E"/>
          </a:solidFill>
          <a:ln w="12700">
            <a:solidFill>
              <a:srgbClr val="0B2E24"/>
            </a:solidFill>
            <a:prstDash val="solid"/>
          </a:ln>
        </p:spPr>
      </p:sp>
      <p:sp>
        <p:nvSpPr>
          <p:cNvPr id="58" name="Person head"/>
          <p:cNvSpPr/>
          <p:nvPr/>
        </p:nvSpPr>
        <p:spPr>
          <a:xfrm>
            <a:off x="5669280" y="3054096"/>
            <a:ext cx="182880" cy="182880"/>
          </a:xfrm>
          <a:prstGeom prst="ellipse">
            <a:avLst/>
          </a:prstGeom>
          <a:solidFill>
            <a:srgbClr val="9CC5B2"/>
          </a:solidFill>
          <a:ln w="12700">
            <a:solidFill>
              <a:srgbClr val="0B2E24"/>
            </a:solidFill>
            <a:prstDash val="solid"/>
          </a:ln>
        </p:spPr>
      </p:sp>
      <p:sp>
        <p:nvSpPr>
          <p:cNvPr id="59" name="Person body"/>
          <p:cNvSpPr/>
          <p:nvPr/>
        </p:nvSpPr>
        <p:spPr>
          <a:xfrm>
            <a:off x="5605272" y="3273552"/>
            <a:ext cx="310896" cy="329184"/>
          </a:xfrm>
          <a:prstGeom prst="roundRect">
            <a:avLst>
              <a:gd name="adj" fmla="val 29412"/>
            </a:avLst>
          </a:prstGeom>
          <a:solidFill>
            <a:srgbClr val="14513E"/>
          </a:solidFill>
          <a:ln w="12700">
            <a:solidFill>
              <a:srgbClr val="0B2E24"/>
            </a:solidFill>
            <a:prstDash val="solid"/>
          </a:ln>
        </p:spPr>
      </p:sp>
      <p:sp>
        <p:nvSpPr>
          <p:cNvPr id="60" name="Person head"/>
          <p:cNvSpPr/>
          <p:nvPr/>
        </p:nvSpPr>
        <p:spPr>
          <a:xfrm>
            <a:off x="6089904" y="3054096"/>
            <a:ext cx="182880" cy="182880"/>
          </a:xfrm>
          <a:prstGeom prst="ellipse">
            <a:avLst/>
          </a:prstGeom>
          <a:solidFill>
            <a:srgbClr val="9CC5B2"/>
          </a:solidFill>
          <a:ln w="12700">
            <a:solidFill>
              <a:srgbClr val="0B2E24"/>
            </a:solidFill>
            <a:prstDash val="solid"/>
          </a:ln>
        </p:spPr>
      </p:sp>
      <p:sp>
        <p:nvSpPr>
          <p:cNvPr id="61" name="Person body"/>
          <p:cNvSpPr/>
          <p:nvPr/>
        </p:nvSpPr>
        <p:spPr>
          <a:xfrm>
            <a:off x="6025896" y="3273552"/>
            <a:ext cx="310896" cy="329184"/>
          </a:xfrm>
          <a:prstGeom prst="roundRect">
            <a:avLst>
              <a:gd name="adj" fmla="val 29412"/>
            </a:avLst>
          </a:prstGeom>
          <a:solidFill>
            <a:srgbClr val="1D6B52"/>
          </a:solidFill>
          <a:ln w="12700">
            <a:solidFill>
              <a:srgbClr val="0B2E24"/>
            </a:solidFill>
            <a:prstDash val="solid"/>
          </a:ln>
        </p:spPr>
      </p:sp>
      <p:sp>
        <p:nvSpPr>
          <p:cNvPr id="62" name="Person head"/>
          <p:cNvSpPr/>
          <p:nvPr/>
        </p:nvSpPr>
        <p:spPr>
          <a:xfrm>
            <a:off x="6510528" y="3054096"/>
            <a:ext cx="182880" cy="182880"/>
          </a:xfrm>
          <a:prstGeom prst="ellipse">
            <a:avLst/>
          </a:prstGeom>
          <a:solidFill>
            <a:srgbClr val="9CC5B2"/>
          </a:solidFill>
          <a:ln w="12700">
            <a:solidFill>
              <a:srgbClr val="0B2E24"/>
            </a:solidFill>
            <a:prstDash val="solid"/>
          </a:ln>
        </p:spPr>
      </p:sp>
      <p:sp>
        <p:nvSpPr>
          <p:cNvPr id="63" name="Person body"/>
          <p:cNvSpPr/>
          <p:nvPr/>
        </p:nvSpPr>
        <p:spPr>
          <a:xfrm>
            <a:off x="6446520" y="3273552"/>
            <a:ext cx="310896" cy="329184"/>
          </a:xfrm>
          <a:prstGeom prst="roundRect">
            <a:avLst>
              <a:gd name="adj" fmla="val 29412"/>
            </a:avLst>
          </a:prstGeom>
          <a:solidFill>
            <a:srgbClr val="3E8E6E"/>
          </a:solidFill>
          <a:ln w="12700">
            <a:solidFill>
              <a:srgbClr val="0B2E24"/>
            </a:solidFill>
            <a:prstDash val="solid"/>
          </a:ln>
        </p:spPr>
      </p:sp>
      <p:sp>
        <p:nvSpPr>
          <p:cNvPr id="64" name="Person head"/>
          <p:cNvSpPr/>
          <p:nvPr/>
        </p:nvSpPr>
        <p:spPr>
          <a:xfrm>
            <a:off x="6931152" y="3054096"/>
            <a:ext cx="182880" cy="182880"/>
          </a:xfrm>
          <a:prstGeom prst="ellipse">
            <a:avLst/>
          </a:prstGeom>
          <a:solidFill>
            <a:srgbClr val="9CC5B2"/>
          </a:solidFill>
          <a:ln w="12700">
            <a:solidFill>
              <a:srgbClr val="0B2E24"/>
            </a:solidFill>
            <a:prstDash val="solid"/>
          </a:ln>
        </p:spPr>
      </p:sp>
      <p:sp>
        <p:nvSpPr>
          <p:cNvPr id="65" name="Person body"/>
          <p:cNvSpPr/>
          <p:nvPr/>
        </p:nvSpPr>
        <p:spPr>
          <a:xfrm>
            <a:off x="6867144" y="3273552"/>
            <a:ext cx="310896" cy="329184"/>
          </a:xfrm>
          <a:prstGeom prst="roundRect">
            <a:avLst>
              <a:gd name="adj" fmla="val 29412"/>
            </a:avLst>
          </a:prstGeom>
          <a:solidFill>
            <a:srgbClr val="14513E"/>
          </a:solidFill>
          <a:ln w="12700">
            <a:solidFill>
              <a:srgbClr val="0B2E24"/>
            </a:solidFill>
            <a:prstDash val="solid"/>
          </a:ln>
        </p:spPr>
      </p:sp>
      <p:sp>
        <p:nvSpPr>
          <p:cNvPr id="66" name="Person head"/>
          <p:cNvSpPr/>
          <p:nvPr/>
        </p:nvSpPr>
        <p:spPr>
          <a:xfrm>
            <a:off x="7351776" y="3054096"/>
            <a:ext cx="182880" cy="182880"/>
          </a:xfrm>
          <a:prstGeom prst="ellipse">
            <a:avLst/>
          </a:prstGeom>
          <a:solidFill>
            <a:srgbClr val="9CC5B2"/>
          </a:solidFill>
          <a:ln w="12700">
            <a:solidFill>
              <a:srgbClr val="0B2E24"/>
            </a:solidFill>
            <a:prstDash val="solid"/>
          </a:ln>
        </p:spPr>
      </p:sp>
      <p:sp>
        <p:nvSpPr>
          <p:cNvPr id="67" name="Person body"/>
          <p:cNvSpPr/>
          <p:nvPr/>
        </p:nvSpPr>
        <p:spPr>
          <a:xfrm>
            <a:off x="7287768" y="3273552"/>
            <a:ext cx="310896" cy="329184"/>
          </a:xfrm>
          <a:prstGeom prst="roundRect">
            <a:avLst>
              <a:gd name="adj" fmla="val 29412"/>
            </a:avLst>
          </a:prstGeom>
          <a:solidFill>
            <a:srgbClr val="1D6B52"/>
          </a:solidFill>
          <a:ln w="12700">
            <a:solidFill>
              <a:srgbClr val="0B2E24"/>
            </a:solidFill>
            <a:prstDash val="solid"/>
          </a:ln>
        </p:spPr>
      </p:sp>
      <p:sp>
        <p:nvSpPr>
          <p:cNvPr id="68" name="Person head"/>
          <p:cNvSpPr/>
          <p:nvPr/>
        </p:nvSpPr>
        <p:spPr>
          <a:xfrm>
            <a:off x="7772400" y="3054096"/>
            <a:ext cx="182880" cy="182880"/>
          </a:xfrm>
          <a:prstGeom prst="ellipse">
            <a:avLst/>
          </a:prstGeom>
          <a:solidFill>
            <a:srgbClr val="9CC5B2"/>
          </a:solidFill>
          <a:ln w="12700">
            <a:solidFill>
              <a:srgbClr val="0B2E24"/>
            </a:solidFill>
            <a:prstDash val="solid"/>
          </a:ln>
        </p:spPr>
      </p:sp>
      <p:sp>
        <p:nvSpPr>
          <p:cNvPr id="69" name="Person body"/>
          <p:cNvSpPr/>
          <p:nvPr/>
        </p:nvSpPr>
        <p:spPr>
          <a:xfrm>
            <a:off x="7708392" y="3273552"/>
            <a:ext cx="310896" cy="329184"/>
          </a:xfrm>
          <a:prstGeom prst="roundRect">
            <a:avLst>
              <a:gd name="adj" fmla="val 29412"/>
            </a:avLst>
          </a:prstGeom>
          <a:solidFill>
            <a:srgbClr val="3E8E6E"/>
          </a:solidFill>
          <a:ln w="12700">
            <a:solidFill>
              <a:srgbClr val="0B2E24"/>
            </a:solidFill>
            <a:prstDash val="solid"/>
          </a:ln>
        </p:spPr>
      </p:sp>
      <p:sp>
        <p:nvSpPr>
          <p:cNvPr id="70" name="Person head"/>
          <p:cNvSpPr/>
          <p:nvPr/>
        </p:nvSpPr>
        <p:spPr>
          <a:xfrm>
            <a:off x="8193024" y="3054096"/>
            <a:ext cx="182880" cy="182880"/>
          </a:xfrm>
          <a:prstGeom prst="ellipse">
            <a:avLst/>
          </a:prstGeom>
          <a:solidFill>
            <a:srgbClr val="9CC5B2"/>
          </a:solidFill>
          <a:ln w="12700">
            <a:solidFill>
              <a:srgbClr val="0B2E24"/>
            </a:solidFill>
            <a:prstDash val="solid"/>
          </a:ln>
        </p:spPr>
      </p:sp>
      <p:sp>
        <p:nvSpPr>
          <p:cNvPr id="71" name="Person body"/>
          <p:cNvSpPr/>
          <p:nvPr/>
        </p:nvSpPr>
        <p:spPr>
          <a:xfrm>
            <a:off x="8129016" y="3273552"/>
            <a:ext cx="310896" cy="329184"/>
          </a:xfrm>
          <a:prstGeom prst="roundRect">
            <a:avLst>
              <a:gd name="adj" fmla="val 29412"/>
            </a:avLst>
          </a:prstGeom>
          <a:solidFill>
            <a:srgbClr val="14513E"/>
          </a:solidFill>
          <a:ln w="12700">
            <a:solidFill>
              <a:srgbClr val="0B2E24"/>
            </a:solidFill>
            <a:prstDash val="solid"/>
          </a:ln>
        </p:spPr>
      </p:sp>
      <p:sp>
        <p:nvSpPr>
          <p:cNvPr id="72" name="Ticket card"/>
          <p:cNvSpPr/>
          <p:nvPr/>
        </p:nvSpPr>
        <p:spPr>
          <a:xfrm>
            <a:off x="5212080" y="3840480"/>
            <a:ext cx="3383280" cy="640080"/>
          </a:xfrm>
          <a:prstGeom prst="roundRect">
            <a:avLst>
              <a:gd name="adj" fmla="val 11429"/>
            </a:avLst>
          </a:prstGeom>
          <a:solidFill>
            <a:srgbClr val="14513E"/>
          </a:solidFill>
          <a:ln w="12700">
            <a:solidFill>
              <a:srgbClr val="14513E"/>
            </a:solidFill>
            <a:prstDash val="solid"/>
          </a:ln>
        </p:spPr>
      </p:sp>
      <p:sp>
        <p:nvSpPr>
          <p:cNvPr id="73" name="Ticket label"/>
          <p:cNvSpPr txBox="1"/>
          <p:nvPr/>
        </p:nvSpPr>
        <p:spPr>
          <a:xfrm>
            <a:off x="5212080" y="3840480"/>
            <a:ext cx="3383280" cy="640080"/>
          </a:xfrm>
          <a:prstGeom prst="rect">
            <a:avLst/>
          </a:prstGeom>
          <a:noFill/>
          <a:ln/>
        </p:spPr>
        <p:txBody>
          <a:bodyPr wrap="square" lIns="0" tIns="0" rIns="0" bIns="0" rtlCol="0" anchor="ctr"/>
          <a:lstStyle/>
          <a:p>
            <a:pPr algn="ctr" indent="0" marL="0">
              <a:buNone/>
            </a:pPr>
            <a:r>
              <a:rPr lang="en-US" sz="1600" dirty="0">
                <a:solidFill>
                  <a:srgbClr val="E3EEE8"/>
                </a:solidFill>
                <a:latin typeface="Calibri" pitchFamily="34" charset="0"/>
                <a:ea typeface="Calibri" pitchFamily="34" charset="-122"/>
                <a:cs typeface="Calibri" pitchFamily="34" charset="-120"/>
              </a:rPr>
              <a:t>Queue position:  </a:t>
            </a:r>
            <a:pPr algn="ctr" indent="0" marL="0">
              <a:buNone/>
            </a:pPr>
            <a:r>
              <a:rPr lang="en-US" sz="1600" b="1" dirty="0">
                <a:solidFill>
                  <a:srgbClr val="D4A93C"/>
                </a:solidFill>
                <a:latin typeface="Calibri" pitchFamily="34" charset="0"/>
                <a:ea typeface="Calibri" pitchFamily="34" charset="-122"/>
                <a:cs typeface="Calibri" pitchFamily="34" charset="-120"/>
              </a:rPr>
              <a:t>unknown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E24"/>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D4A93C"/>
                </a:solidFill>
                <a:latin typeface="Calibri" pitchFamily="34" charset="0"/>
                <a:ea typeface="Calibri" pitchFamily="34" charset="-122"/>
                <a:cs typeface="Calibri" pitchFamily="34" charset="-120"/>
              </a:rPr>
              <a:t>PART 1  ·  THE PATIENT'S DAY</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9CC5B2"/>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03 / 10</a:t>
            </a:r>
            <a:endParaRPr lang="en-US" sz="1000" dirty="0"/>
          </a:p>
        </p:txBody>
      </p:sp>
      <p:sp>
        <p:nvSpPr>
          <p:cNvPr id="6" name="Title"/>
          <p:cNvSpPr txBox="1"/>
          <p:nvPr/>
        </p:nvSpPr>
        <p:spPr>
          <a:xfrm>
            <a:off x="548640" y="685800"/>
            <a:ext cx="4206240" cy="10058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file cannot be found</a:t>
            </a:r>
            <a:endParaRPr lang="en-US" sz="3000" dirty="0"/>
          </a:p>
        </p:txBody>
      </p:sp>
      <p:sp>
        <p:nvSpPr>
          <p:cNvPr id="7" name="Body"/>
          <p:cNvSpPr txBox="1"/>
          <p:nvPr/>
        </p:nvSpPr>
        <p:spPr>
          <a:xfrm>
            <a:off x="548640" y="1737360"/>
            <a:ext cx="3840480" cy="2377440"/>
          </a:xfrm>
          <a:prstGeom prst="rect">
            <a:avLst/>
          </a:prstGeom>
          <a:noFill/>
          <a:ln/>
        </p:spPr>
        <p:txBody>
          <a:bodyPr wrap="square" lIns="0" tIns="0" rIns="0" bIns="0" rtlCol="0" anchor="t"/>
          <a:lstStyle/>
          <a:p>
            <a:pPr indent="0" marL="0">
              <a:buNone/>
            </a:pPr>
            <a:r>
              <a:rPr lang="en-US" sz="1600" dirty="0">
                <a:solidFill>
                  <a:srgbClr val="E3EEE8"/>
                </a:solidFill>
                <a:latin typeface="Calibri" pitchFamily="34" charset="0"/>
                <a:ea typeface="Calibri" pitchFamily="34" charset="-122"/>
                <a:cs typeface="Calibri" pitchFamily="34" charset="-120"/>
              </a:rPr>
              <a:t>A new folder is opened and her history starts again from zero.</a:t>
            </a:r>
            <a:endParaRPr lang="en-US" sz="1600" dirty="0"/>
          </a:p>
          <a:p>
            <a:pPr indent="0" marL="0">
              <a:buNone/>
            </a:pPr>
            <a:r>
              <a:rPr lang="en-US" sz="800" dirty="0">
                <a:solidFill>
                  <a:srgbClr val="E3EEE8"/>
                </a:solidFill>
                <a:latin typeface="Calibri" pitchFamily="34" charset="0"/>
                <a:ea typeface="Calibri" pitchFamily="34" charset="-122"/>
                <a:cs typeface="Calibri" pitchFamily="34" charset="-120"/>
              </a:rPr>
              <a:t> </a:t>
            </a:r>
            <a:endParaRPr lang="en-US" sz="1600" dirty="0"/>
          </a:p>
          <a:p>
            <a:pPr indent="0" marL="0">
              <a:buNone/>
            </a:pPr>
            <a:r>
              <a:rPr lang="en-US" sz="1600" dirty="0">
                <a:solidFill>
                  <a:srgbClr val="E3EEE8"/>
                </a:solidFill>
                <a:latin typeface="Calibri" pitchFamily="34" charset="0"/>
                <a:ea typeface="Calibri" pitchFamily="34" charset="-122"/>
                <a:cs typeface="Calibri" pitchFamily="34" charset="-120"/>
              </a:rPr>
              <a:t>Earlier diagnoses, allergies and prescriptions are not available to the clinician at the moment they matter most.</a:t>
            </a:r>
            <a:endParaRPr lang="en-US" sz="1600" dirty="0"/>
          </a:p>
        </p:txBody>
      </p:sp>
      <p:sp>
        <p:nvSpPr>
          <p:cNvPr id="8" name="Folder"/>
          <p:cNvSpPr/>
          <p:nvPr/>
        </p:nvSpPr>
        <p:spPr>
          <a:xfrm>
            <a:off x="4937760" y="1005840"/>
            <a:ext cx="3200400" cy="475488"/>
          </a:xfrm>
          <a:prstGeom prst="roundRect">
            <a:avLst>
              <a:gd name="adj" fmla="val 9615"/>
            </a:avLst>
          </a:prstGeom>
          <a:solidFill>
            <a:srgbClr val="14513E"/>
          </a:solidFill>
          <a:ln w="12700">
            <a:solidFill>
              <a:srgbClr val="0B2E24"/>
            </a:solidFill>
            <a:prstDash val="solid"/>
          </a:ln>
        </p:spPr>
      </p:sp>
      <p:sp>
        <p:nvSpPr>
          <p:cNvPr id="9" name="Folder tab"/>
          <p:cNvSpPr/>
          <p:nvPr/>
        </p:nvSpPr>
        <p:spPr>
          <a:xfrm>
            <a:off x="5074920" y="914400"/>
            <a:ext cx="914400" cy="128016"/>
          </a:xfrm>
          <a:prstGeom prst="roundRect">
            <a:avLst>
              <a:gd name="adj" fmla="val 28571"/>
            </a:avLst>
          </a:prstGeom>
          <a:solidFill>
            <a:srgbClr val="14513E"/>
          </a:solidFill>
          <a:ln w="12700">
            <a:solidFill>
              <a:srgbClr val="0B2E24"/>
            </a:solidFill>
            <a:prstDash val="solid"/>
          </a:ln>
        </p:spPr>
      </p:sp>
      <p:sp>
        <p:nvSpPr>
          <p:cNvPr id="10" name="Folder"/>
          <p:cNvSpPr/>
          <p:nvPr/>
        </p:nvSpPr>
        <p:spPr>
          <a:xfrm>
            <a:off x="4937760" y="1389888"/>
            <a:ext cx="3200400" cy="475488"/>
          </a:xfrm>
          <a:prstGeom prst="roundRect">
            <a:avLst>
              <a:gd name="adj" fmla="val 9615"/>
            </a:avLst>
          </a:prstGeom>
          <a:solidFill>
            <a:srgbClr val="3E8E6E"/>
          </a:solidFill>
          <a:ln w="12700">
            <a:solidFill>
              <a:srgbClr val="0B2E24"/>
            </a:solidFill>
            <a:prstDash val="solid"/>
          </a:ln>
        </p:spPr>
      </p:sp>
      <p:sp>
        <p:nvSpPr>
          <p:cNvPr id="11" name="Folder tab"/>
          <p:cNvSpPr/>
          <p:nvPr/>
        </p:nvSpPr>
        <p:spPr>
          <a:xfrm>
            <a:off x="5074920" y="1298448"/>
            <a:ext cx="914400" cy="128016"/>
          </a:xfrm>
          <a:prstGeom prst="roundRect">
            <a:avLst>
              <a:gd name="adj" fmla="val 28571"/>
            </a:avLst>
          </a:prstGeom>
          <a:solidFill>
            <a:srgbClr val="3E8E6E"/>
          </a:solidFill>
          <a:ln w="12700">
            <a:solidFill>
              <a:srgbClr val="0B2E24"/>
            </a:solidFill>
            <a:prstDash val="solid"/>
          </a:ln>
        </p:spPr>
      </p:sp>
      <p:sp>
        <p:nvSpPr>
          <p:cNvPr id="12" name="Folder"/>
          <p:cNvSpPr/>
          <p:nvPr/>
        </p:nvSpPr>
        <p:spPr>
          <a:xfrm>
            <a:off x="4937760" y="1773936"/>
            <a:ext cx="3200400" cy="475488"/>
          </a:xfrm>
          <a:prstGeom prst="roundRect">
            <a:avLst>
              <a:gd name="adj" fmla="val 9615"/>
            </a:avLst>
          </a:prstGeom>
          <a:solidFill>
            <a:srgbClr val="1D6B52"/>
          </a:solidFill>
          <a:ln w="12700">
            <a:solidFill>
              <a:srgbClr val="0B2E24"/>
            </a:solidFill>
            <a:prstDash val="solid"/>
          </a:ln>
        </p:spPr>
      </p:sp>
      <p:sp>
        <p:nvSpPr>
          <p:cNvPr id="13" name="Folder tab"/>
          <p:cNvSpPr/>
          <p:nvPr/>
        </p:nvSpPr>
        <p:spPr>
          <a:xfrm>
            <a:off x="5074920" y="1682496"/>
            <a:ext cx="914400" cy="128016"/>
          </a:xfrm>
          <a:prstGeom prst="roundRect">
            <a:avLst>
              <a:gd name="adj" fmla="val 28571"/>
            </a:avLst>
          </a:prstGeom>
          <a:solidFill>
            <a:srgbClr val="1D6B52"/>
          </a:solidFill>
          <a:ln w="12700">
            <a:solidFill>
              <a:srgbClr val="0B2E24"/>
            </a:solidFill>
            <a:prstDash val="solid"/>
          </a:ln>
        </p:spPr>
      </p:sp>
      <p:sp>
        <p:nvSpPr>
          <p:cNvPr id="14" name="Folder"/>
          <p:cNvSpPr/>
          <p:nvPr/>
        </p:nvSpPr>
        <p:spPr>
          <a:xfrm>
            <a:off x="5394960" y="2157984"/>
            <a:ext cx="3200400" cy="475488"/>
          </a:xfrm>
          <a:prstGeom prst="roundRect">
            <a:avLst>
              <a:gd name="adj" fmla="val 9615"/>
            </a:avLst>
          </a:prstGeom>
          <a:solidFill>
            <a:srgbClr val="14513E"/>
          </a:solidFill>
          <a:ln w="12700">
            <a:solidFill>
              <a:srgbClr val="0B2E24"/>
            </a:solidFill>
            <a:prstDash val="solid"/>
          </a:ln>
        </p:spPr>
      </p:sp>
      <p:sp>
        <p:nvSpPr>
          <p:cNvPr id="15" name="Folder tab"/>
          <p:cNvSpPr/>
          <p:nvPr/>
        </p:nvSpPr>
        <p:spPr>
          <a:xfrm>
            <a:off x="5532120" y="2066544"/>
            <a:ext cx="914400" cy="128016"/>
          </a:xfrm>
          <a:prstGeom prst="roundRect">
            <a:avLst>
              <a:gd name="adj" fmla="val 28571"/>
            </a:avLst>
          </a:prstGeom>
          <a:solidFill>
            <a:srgbClr val="14513E"/>
          </a:solidFill>
          <a:ln w="12700">
            <a:solidFill>
              <a:srgbClr val="0B2E24"/>
            </a:solidFill>
            <a:prstDash val="solid"/>
          </a:ln>
        </p:spPr>
      </p:sp>
      <p:sp>
        <p:nvSpPr>
          <p:cNvPr id="16" name="Folder"/>
          <p:cNvSpPr/>
          <p:nvPr/>
        </p:nvSpPr>
        <p:spPr>
          <a:xfrm>
            <a:off x="4937760" y="2542032"/>
            <a:ext cx="3200400" cy="475488"/>
          </a:xfrm>
          <a:prstGeom prst="roundRect">
            <a:avLst>
              <a:gd name="adj" fmla="val 9615"/>
            </a:avLst>
          </a:prstGeom>
          <a:solidFill>
            <a:srgbClr val="3E8E6E"/>
          </a:solidFill>
          <a:ln w="12700">
            <a:solidFill>
              <a:srgbClr val="0B2E24"/>
            </a:solidFill>
            <a:prstDash val="solid"/>
          </a:ln>
        </p:spPr>
      </p:sp>
      <p:sp>
        <p:nvSpPr>
          <p:cNvPr id="17" name="Folder tab"/>
          <p:cNvSpPr/>
          <p:nvPr/>
        </p:nvSpPr>
        <p:spPr>
          <a:xfrm>
            <a:off x="5074920" y="2450592"/>
            <a:ext cx="914400" cy="128016"/>
          </a:xfrm>
          <a:prstGeom prst="roundRect">
            <a:avLst>
              <a:gd name="adj" fmla="val 28571"/>
            </a:avLst>
          </a:prstGeom>
          <a:solidFill>
            <a:srgbClr val="3E8E6E"/>
          </a:solidFill>
          <a:ln w="12700">
            <a:solidFill>
              <a:srgbClr val="0B2E24"/>
            </a:solidFill>
            <a:prstDash val="solid"/>
          </a:ln>
        </p:spPr>
      </p:sp>
      <p:sp>
        <p:nvSpPr>
          <p:cNvPr id="18" name="Folder"/>
          <p:cNvSpPr/>
          <p:nvPr/>
        </p:nvSpPr>
        <p:spPr>
          <a:xfrm>
            <a:off x="4937760" y="2926080"/>
            <a:ext cx="3200400" cy="475488"/>
          </a:xfrm>
          <a:prstGeom prst="roundRect">
            <a:avLst>
              <a:gd name="adj" fmla="val 9615"/>
            </a:avLst>
          </a:prstGeom>
          <a:solidFill>
            <a:srgbClr val="1D6B52"/>
          </a:solidFill>
          <a:ln w="12700">
            <a:solidFill>
              <a:srgbClr val="0B2E24"/>
            </a:solidFill>
            <a:prstDash val="solid"/>
          </a:ln>
        </p:spPr>
      </p:sp>
      <p:sp>
        <p:nvSpPr>
          <p:cNvPr id="19" name="Folder tab"/>
          <p:cNvSpPr/>
          <p:nvPr/>
        </p:nvSpPr>
        <p:spPr>
          <a:xfrm>
            <a:off x="5074920" y="2834640"/>
            <a:ext cx="914400" cy="128016"/>
          </a:xfrm>
          <a:prstGeom prst="roundRect">
            <a:avLst>
              <a:gd name="adj" fmla="val 28571"/>
            </a:avLst>
          </a:prstGeom>
          <a:solidFill>
            <a:srgbClr val="1D6B52"/>
          </a:solidFill>
          <a:ln w="12700">
            <a:solidFill>
              <a:srgbClr val="0B2E24"/>
            </a:solidFill>
            <a:prstDash val="solid"/>
          </a:ln>
        </p:spPr>
      </p:sp>
      <p:sp>
        <p:nvSpPr>
          <p:cNvPr id="20" name="Folder"/>
          <p:cNvSpPr/>
          <p:nvPr/>
        </p:nvSpPr>
        <p:spPr>
          <a:xfrm>
            <a:off x="4937760" y="3310128"/>
            <a:ext cx="3200400" cy="475488"/>
          </a:xfrm>
          <a:prstGeom prst="roundRect">
            <a:avLst>
              <a:gd name="adj" fmla="val 9615"/>
            </a:avLst>
          </a:prstGeom>
          <a:solidFill>
            <a:srgbClr val="14513E"/>
          </a:solidFill>
          <a:ln w="12700">
            <a:solidFill>
              <a:srgbClr val="0B2E24"/>
            </a:solidFill>
            <a:prstDash val="solid"/>
          </a:ln>
        </p:spPr>
      </p:sp>
      <p:sp>
        <p:nvSpPr>
          <p:cNvPr id="21" name="Folder tab"/>
          <p:cNvSpPr/>
          <p:nvPr/>
        </p:nvSpPr>
        <p:spPr>
          <a:xfrm>
            <a:off x="5074920" y="3218688"/>
            <a:ext cx="914400" cy="128016"/>
          </a:xfrm>
          <a:prstGeom prst="roundRect">
            <a:avLst>
              <a:gd name="adj" fmla="val 28571"/>
            </a:avLst>
          </a:prstGeom>
          <a:solidFill>
            <a:srgbClr val="14513E"/>
          </a:solidFill>
          <a:ln w="12700">
            <a:solidFill>
              <a:srgbClr val="0B2E24"/>
            </a:solidFill>
            <a:prstDash val="solid"/>
          </a:ln>
        </p:spPr>
      </p:sp>
      <p:sp>
        <p:nvSpPr>
          <p:cNvPr id="22" name="Missing file"/>
          <p:cNvSpPr txBox="1"/>
          <p:nvPr/>
        </p:nvSpPr>
        <p:spPr>
          <a:xfrm>
            <a:off x="5394960" y="2157984"/>
            <a:ext cx="3200400" cy="475488"/>
          </a:xfrm>
          <a:prstGeom prst="rect">
            <a:avLst/>
          </a:prstGeom>
          <a:noFill/>
          <a:ln/>
        </p:spPr>
        <p:txBody>
          <a:bodyPr wrap="square" lIns="0" tIns="0" rIns="0" bIns="0" rtlCol="0" anchor="ctr"/>
          <a:lstStyle/>
          <a:p>
            <a:pPr algn="ctr" indent="0" marL="0">
              <a:buNone/>
            </a:pPr>
            <a:r>
              <a:rPr lang="en-US" sz="2400" b="1" dirty="0">
                <a:solidFill>
                  <a:srgbClr val="D4A93C"/>
                </a:solidFill>
                <a:latin typeface="Cambria" pitchFamily="34" charset="0"/>
                <a:ea typeface="Cambria" pitchFamily="34" charset="-122"/>
                <a:cs typeface="Cambria" pitchFamily="34" charset="-120"/>
              </a:rPr>
              <a:t>?</a:t>
            </a:r>
            <a:endParaRPr lang="en-US" sz="2400" dirty="0"/>
          </a:p>
        </p:txBody>
      </p:sp>
      <p:sp>
        <p:nvSpPr>
          <p:cNvPr id="23" name="Note card"/>
          <p:cNvSpPr/>
          <p:nvPr/>
        </p:nvSpPr>
        <p:spPr>
          <a:xfrm>
            <a:off x="4937760" y="3840480"/>
            <a:ext cx="3200400" cy="566928"/>
          </a:xfrm>
          <a:prstGeom prst="roundRect">
            <a:avLst>
              <a:gd name="adj" fmla="val 12903"/>
            </a:avLst>
          </a:prstGeom>
          <a:solidFill>
            <a:srgbClr val="14513E"/>
          </a:solidFill>
          <a:ln w="12700">
            <a:solidFill>
              <a:srgbClr val="14513E"/>
            </a:solidFill>
            <a:prstDash val="solid"/>
          </a:ln>
        </p:spPr>
      </p:sp>
      <p:sp>
        <p:nvSpPr>
          <p:cNvPr id="24" name="Note label"/>
          <p:cNvSpPr txBox="1"/>
          <p:nvPr/>
        </p:nvSpPr>
        <p:spPr>
          <a:xfrm>
            <a:off x="4937760" y="3840480"/>
            <a:ext cx="3200400" cy="566928"/>
          </a:xfrm>
          <a:prstGeom prst="rect">
            <a:avLst/>
          </a:prstGeom>
          <a:noFill/>
          <a:ln/>
        </p:spPr>
        <p:txBody>
          <a:bodyPr wrap="square" lIns="0" tIns="0" rIns="0" bIns="0" rtlCol="0" anchor="ctr"/>
          <a:lstStyle/>
          <a:p>
            <a:pPr algn="ctr" indent="0" marL="0">
              <a:buNone/>
            </a:pPr>
            <a:r>
              <a:rPr lang="en-US" sz="1500" dirty="0">
                <a:solidFill>
                  <a:srgbClr val="E3EEE8"/>
                </a:solidFill>
                <a:latin typeface="Calibri" pitchFamily="34" charset="0"/>
                <a:ea typeface="Calibri" pitchFamily="34" charset="-122"/>
                <a:cs typeface="Calibri" pitchFamily="34" charset="-120"/>
              </a:rPr>
              <a:t>Patient history: not available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E24"/>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D4A93C"/>
                </a:solidFill>
                <a:latin typeface="Calibri" pitchFamily="34" charset="0"/>
                <a:ea typeface="Calibri" pitchFamily="34" charset="-122"/>
                <a:cs typeface="Calibri" pitchFamily="34" charset="-120"/>
              </a:rPr>
              <a:t>PART 1  ·  THE FACILITY'S REALITY</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9CC5B2"/>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04 / 10</a:t>
            </a:r>
            <a:endParaRPr lang="en-US" sz="1000" dirty="0"/>
          </a:p>
        </p:txBody>
      </p:sp>
      <p:sp>
        <p:nvSpPr>
          <p:cNvPr id="6" name="Title"/>
          <p:cNvSpPr txBox="1"/>
          <p:nvPr/>
        </p:nvSpPr>
        <p:spPr>
          <a:xfrm>
            <a:off x="548640" y="685800"/>
            <a:ext cx="4572000" cy="11887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Power and network are not guaranteed</a:t>
            </a:r>
            <a:endParaRPr lang="en-US" sz="3000" dirty="0"/>
          </a:p>
        </p:txBody>
      </p:sp>
      <p:sp>
        <p:nvSpPr>
          <p:cNvPr id="7" name="Body"/>
          <p:cNvSpPr txBox="1"/>
          <p:nvPr/>
        </p:nvSpPr>
        <p:spPr>
          <a:xfrm>
            <a:off x="548640" y="2011680"/>
            <a:ext cx="3840480" cy="1554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3EEE8"/>
                </a:solidFill>
                <a:latin typeface="Calibri" pitchFamily="34" charset="0"/>
                <a:ea typeface="Calibri" pitchFamily="34" charset="-122"/>
                <a:cs typeface="Calibri" pitchFamily="34" charset="-120"/>
              </a:rPr>
              <a:t>Facilities depend on inverters and generators.</a:t>
            </a:r>
            <a:endParaRPr lang="en-US" sz="1600" dirty="0"/>
          </a:p>
          <a:p>
            <a:pPr marL="342900" indent="-342900">
              <a:spcAft>
                <a:spcPts val="800"/>
              </a:spcAft>
              <a:buSzPct val="100000"/>
              <a:buChar char="•"/>
            </a:pPr>
            <a:r>
              <a:rPr lang="en-US" sz="1600" dirty="0">
                <a:solidFill>
                  <a:srgbClr val="E3EEE8"/>
                </a:solidFill>
                <a:latin typeface="Calibri" pitchFamily="34" charset="0"/>
                <a:ea typeface="Calibri" pitchFamily="34" charset="-122"/>
                <a:cs typeface="Calibri" pitchFamily="34" charset="-120"/>
              </a:rPr>
              <a:t>Internet access drops without warning.</a:t>
            </a:r>
            <a:endParaRPr lang="en-US" sz="1600" dirty="0"/>
          </a:p>
          <a:p>
            <a:pPr marL="342900" indent="-342900">
              <a:spcAft>
                <a:spcPts val="800"/>
              </a:spcAft>
              <a:buSzPct val="100000"/>
              <a:buChar char="•"/>
            </a:pPr>
            <a:r>
              <a:rPr lang="en-US" sz="1600" dirty="0">
                <a:solidFill>
                  <a:srgbClr val="E3EEE8"/>
                </a:solidFill>
                <a:latin typeface="Calibri" pitchFamily="34" charset="0"/>
                <a:ea typeface="Calibri" pitchFamily="34" charset="-122"/>
                <a:cs typeface="Calibri" pitchFamily="34" charset="-120"/>
              </a:rPr>
              <a:t>A system that needs the cloud stops when the connection does.</a:t>
            </a:r>
            <a:endParaRPr lang="en-US" sz="1600" dirty="0"/>
          </a:p>
        </p:txBody>
      </p:sp>
      <p:sp>
        <p:nvSpPr>
          <p:cNvPr id="8" name="Requirement card"/>
          <p:cNvSpPr/>
          <p:nvPr/>
        </p:nvSpPr>
        <p:spPr>
          <a:xfrm>
            <a:off x="548640" y="3749040"/>
            <a:ext cx="3840480" cy="640080"/>
          </a:xfrm>
          <a:prstGeom prst="roundRect">
            <a:avLst>
              <a:gd name="adj" fmla="val 11429"/>
            </a:avLst>
          </a:prstGeom>
          <a:solidFill>
            <a:srgbClr val="14513E"/>
          </a:solidFill>
          <a:ln w="12700">
            <a:solidFill>
              <a:srgbClr val="D4A93C"/>
            </a:solidFill>
            <a:prstDash val="solid"/>
          </a:ln>
        </p:spPr>
      </p:sp>
      <p:sp>
        <p:nvSpPr>
          <p:cNvPr id="9" name="Requirement text"/>
          <p:cNvSpPr txBox="1"/>
          <p:nvPr/>
        </p:nvSpPr>
        <p:spPr>
          <a:xfrm>
            <a:off x="685800" y="3749040"/>
            <a:ext cx="3566160" cy="640080"/>
          </a:xfrm>
          <a:prstGeom prst="rect">
            <a:avLst/>
          </a:prstGeom>
          <a:noFill/>
          <a:ln/>
        </p:spPr>
        <p:txBody>
          <a:bodyPr wrap="square" lIns="0" tIns="0" rIns="0" bIns="0" rtlCol="0" anchor="ctr"/>
          <a:lstStyle/>
          <a:p>
            <a:pPr indent="0" marL="0">
              <a:buNone/>
            </a:pPr>
            <a:r>
              <a:rPr lang="en-US" sz="1400" b="1" dirty="0">
                <a:solidFill>
                  <a:srgbClr val="D4A93C"/>
                </a:solidFill>
                <a:latin typeface="Calibri" pitchFamily="34" charset="0"/>
                <a:ea typeface="Calibri" pitchFamily="34" charset="-122"/>
                <a:cs typeface="Calibri" pitchFamily="34" charset="-120"/>
              </a:rPr>
              <a:t>Design requirement:  </a:t>
            </a:r>
            <a:pPr indent="0" marL="0">
              <a:buNone/>
            </a:pPr>
            <a:r>
              <a:rPr lang="en-US" sz="1400" dirty="0">
                <a:solidFill>
                  <a:srgbClr val="FFFFFF"/>
                </a:solidFill>
                <a:latin typeface="Calibri" pitchFamily="34" charset="0"/>
                <a:ea typeface="Calibri" pitchFamily="34" charset="-122"/>
                <a:cs typeface="Calibri" pitchFamily="34" charset="-120"/>
              </a:rPr>
              <a:t>keep working offline, on the facility LAN</a:t>
            </a:r>
            <a:endParaRPr lang="en-US" sz="1400" dirty="0"/>
          </a:p>
        </p:txBody>
      </p:sp>
      <p:pic>
        <p:nvPicPr>
          <p:cNvPr id="10" name="Power infrastructure photo" descr="Inverter and battery unit in a facility room, and a wall-mounted unit with a power plug">    </p:cNvPr>
          <p:cNvPicPr>
            <a:picLocks noChangeAspect="1"/>
          </p:cNvPicPr>
          <p:nvPr/>
        </p:nvPicPr>
        <p:blipFill>
          <a:blip r:embed="rId1"/>
          <a:srcRect l="0" r="0" t="0" b="0"/>
          <a:stretch/>
        </p:blipFill>
        <p:spPr>
          <a:xfrm>
            <a:off x="4800600" y="868680"/>
            <a:ext cx="3794760" cy="2414847"/>
          </a:xfrm>
          <a:prstGeom prst="rect">
            <a:avLst/>
          </a:prstGeom>
        </p:spPr>
      </p:pic>
      <p:sp>
        <p:nvSpPr>
          <p:cNvPr id="11" name="Photo caption"/>
          <p:cNvSpPr txBox="1"/>
          <p:nvPr/>
        </p:nvSpPr>
        <p:spPr>
          <a:xfrm>
            <a:off x="4800600" y="3383280"/>
            <a:ext cx="3794760" cy="274320"/>
          </a:xfrm>
          <a:prstGeom prst="rect">
            <a:avLst/>
          </a:prstGeom>
          <a:noFill/>
          <a:ln/>
        </p:spPr>
        <p:txBody>
          <a:bodyPr wrap="square" lIns="0" tIns="0" rIns="0" bIns="0" rtlCol="0" anchor="ctr"/>
          <a:lstStyle/>
          <a:p>
            <a:pPr indent="0" marL="0">
              <a:buNone/>
            </a:pPr>
            <a:r>
              <a:rPr lang="en-US" sz="1100" i="1" dirty="0">
                <a:solidFill>
                  <a:srgbClr val="9CC5B2"/>
                </a:solidFill>
                <a:latin typeface="Calibri" pitchFamily="34" charset="0"/>
                <a:ea typeface="Calibri" pitchFamily="34" charset="-122"/>
                <a:cs typeface="Calibri" pitchFamily="34" charset="-120"/>
              </a:rPr>
              <a:t>Power infrastructure at a working site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E24"/>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D4A93C"/>
                </a:solidFill>
                <a:latin typeface="Calibri" pitchFamily="34" charset="0"/>
                <a:ea typeface="Calibri" pitchFamily="34" charset="-122"/>
                <a:cs typeface="Calibri" pitchFamily="34" charset="-120"/>
              </a:rPr>
              <a:t>PART 1  ·  THE CONSULTATION</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9CC5B2"/>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05 / 10</a:t>
            </a:r>
            <a:endParaRPr lang="en-US" sz="1000" dirty="0"/>
          </a:p>
        </p:txBody>
      </p:sp>
      <p:sp>
        <p:nvSpPr>
          <p:cNvPr id="6" name="Title"/>
          <p:cNvSpPr txBox="1"/>
          <p:nvPr/>
        </p:nvSpPr>
        <p:spPr>
          <a:xfrm>
            <a:off x="548640" y="685800"/>
            <a:ext cx="804672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Writing instead of listening</a:t>
            </a:r>
            <a:endParaRPr lang="en-US" sz="3000" dirty="0"/>
          </a:p>
        </p:txBody>
      </p:sp>
      <p:sp>
        <p:nvSpPr>
          <p:cNvPr id="7" name="Body"/>
          <p:cNvSpPr txBox="1"/>
          <p:nvPr/>
        </p:nvSpPr>
        <p:spPr>
          <a:xfrm>
            <a:off x="548640" y="1554480"/>
            <a:ext cx="8046720" cy="457200"/>
          </a:xfrm>
          <a:prstGeom prst="rect">
            <a:avLst/>
          </a:prstGeom>
          <a:noFill/>
          <a:ln/>
        </p:spPr>
        <p:txBody>
          <a:bodyPr wrap="square" lIns="0" tIns="0" rIns="0" bIns="0" rtlCol="0" anchor="t"/>
          <a:lstStyle/>
          <a:p>
            <a:pPr indent="0" marL="0">
              <a:buNone/>
            </a:pPr>
            <a:r>
              <a:rPr lang="en-US" sz="1600" dirty="0">
                <a:solidFill>
                  <a:srgbClr val="E3EEE8"/>
                </a:solidFill>
                <a:latin typeface="Calibri" pitchFamily="34" charset="0"/>
                <a:ea typeface="Calibri" pitchFamily="34" charset="-122"/>
                <a:cs typeface="Calibri" pitchFamily="34" charset="-120"/>
              </a:rPr>
              <a:t>Consultation time is limited, and a large share of it goes to documentation.</a:t>
            </a:r>
            <a:endParaRPr lang="en-US" sz="1600" dirty="0"/>
          </a:p>
        </p:txBody>
      </p:sp>
      <p:sp>
        <p:nvSpPr>
          <p:cNvPr id="8" name="Should card"/>
          <p:cNvSpPr/>
          <p:nvPr/>
        </p:nvSpPr>
        <p:spPr>
          <a:xfrm>
            <a:off x="548640" y="2286000"/>
            <a:ext cx="3749040" cy="2011680"/>
          </a:xfrm>
          <a:prstGeom prst="roundRect">
            <a:avLst>
              <a:gd name="adj" fmla="val 3636"/>
            </a:avLst>
          </a:prstGeom>
          <a:solidFill>
            <a:srgbClr val="14513E"/>
          </a:solidFill>
          <a:ln w="12700">
            <a:solidFill>
              <a:srgbClr val="14513E"/>
            </a:solidFill>
            <a:prstDash val="solid"/>
          </a:ln>
        </p:spPr>
      </p:sp>
      <p:sp>
        <p:nvSpPr>
          <p:cNvPr id="9" name="Card heading"/>
          <p:cNvSpPr txBox="1"/>
          <p:nvPr/>
        </p:nvSpPr>
        <p:spPr>
          <a:xfrm>
            <a:off x="822960" y="2468880"/>
            <a:ext cx="3200400" cy="365760"/>
          </a:xfrm>
          <a:prstGeom prst="rect">
            <a:avLst/>
          </a:prstGeom>
          <a:noFill/>
          <a:ln/>
        </p:spPr>
        <p:txBody>
          <a:bodyPr wrap="square" lIns="0" tIns="0" rIns="0" bIns="0" rtlCol="0" anchor="ctr"/>
          <a:lstStyle/>
          <a:p>
            <a:pPr indent="0" marL="0">
              <a:buNone/>
            </a:pPr>
            <a:r>
              <a:rPr lang="en-US" sz="1800" b="1" dirty="0">
                <a:solidFill>
                  <a:srgbClr val="D4A93C"/>
                </a:solidFill>
                <a:latin typeface="Cambria" pitchFamily="34" charset="0"/>
                <a:ea typeface="Cambria" pitchFamily="34" charset="-122"/>
                <a:cs typeface="Cambria" pitchFamily="34" charset="-120"/>
              </a:rPr>
              <a:t>What the visit is for</a:t>
            </a:r>
            <a:endParaRPr lang="en-US" sz="1800" dirty="0"/>
          </a:p>
        </p:txBody>
      </p:sp>
      <p:sp>
        <p:nvSpPr>
          <p:cNvPr id="10" name="Body"/>
          <p:cNvSpPr txBox="1"/>
          <p:nvPr/>
        </p:nvSpPr>
        <p:spPr>
          <a:xfrm>
            <a:off x="822960" y="2926080"/>
            <a:ext cx="320040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3EEE8"/>
                </a:solidFill>
                <a:latin typeface="Calibri" pitchFamily="34" charset="0"/>
                <a:ea typeface="Calibri" pitchFamily="34" charset="-122"/>
                <a:cs typeface="Calibri" pitchFamily="34" charset="-120"/>
              </a:rPr>
              <a:t>Listen to the history</a:t>
            </a:r>
            <a:endParaRPr lang="en-US" sz="1500" dirty="0"/>
          </a:p>
          <a:p>
            <a:pPr marL="342900" indent="-342900">
              <a:spcAft>
                <a:spcPts val="600"/>
              </a:spcAft>
              <a:buSzPct val="100000"/>
              <a:buChar char="•"/>
            </a:pPr>
            <a:r>
              <a:rPr lang="en-US" sz="1500" dirty="0">
                <a:solidFill>
                  <a:srgbClr val="E3EEE8"/>
                </a:solidFill>
                <a:latin typeface="Calibri" pitchFamily="34" charset="0"/>
                <a:ea typeface="Calibri" pitchFamily="34" charset="-122"/>
                <a:cs typeface="Calibri" pitchFamily="34" charset="-120"/>
              </a:rPr>
              <a:t>Examine and reason</a:t>
            </a:r>
            <a:endParaRPr lang="en-US" sz="1500" dirty="0"/>
          </a:p>
          <a:p>
            <a:pPr marL="342900" indent="-342900">
              <a:spcAft>
                <a:spcPts val="600"/>
              </a:spcAft>
              <a:buSzPct val="100000"/>
              <a:buChar char="•"/>
            </a:pPr>
            <a:r>
              <a:rPr lang="en-US" sz="1500" dirty="0">
                <a:solidFill>
                  <a:srgbClr val="E3EEE8"/>
                </a:solidFill>
                <a:latin typeface="Calibri" pitchFamily="34" charset="0"/>
                <a:ea typeface="Calibri" pitchFamily="34" charset="-122"/>
                <a:cs typeface="Calibri" pitchFamily="34" charset="-120"/>
              </a:rPr>
              <a:t>Explain the plan to the patient</a:t>
            </a:r>
            <a:endParaRPr lang="en-US" sz="1500" dirty="0"/>
          </a:p>
        </p:txBody>
      </p:sp>
      <p:sp>
        <p:nvSpPr>
          <p:cNvPr id="11" name="Reality card"/>
          <p:cNvSpPr/>
          <p:nvPr/>
        </p:nvSpPr>
        <p:spPr>
          <a:xfrm>
            <a:off x="4846320" y="2286000"/>
            <a:ext cx="3749040" cy="2011680"/>
          </a:xfrm>
          <a:prstGeom prst="roundRect">
            <a:avLst>
              <a:gd name="adj" fmla="val 3636"/>
            </a:avLst>
          </a:prstGeom>
          <a:solidFill>
            <a:srgbClr val="1B1F1D"/>
          </a:solidFill>
          <a:ln w="12700">
            <a:solidFill>
              <a:srgbClr val="B5533C"/>
            </a:solidFill>
            <a:prstDash val="solid"/>
          </a:ln>
        </p:spPr>
      </p:sp>
      <p:sp>
        <p:nvSpPr>
          <p:cNvPr id="12" name="Card heading"/>
          <p:cNvSpPr txBox="1"/>
          <p:nvPr/>
        </p:nvSpPr>
        <p:spPr>
          <a:xfrm>
            <a:off x="5120640" y="2468880"/>
            <a:ext cx="3200400" cy="365760"/>
          </a:xfrm>
          <a:prstGeom prst="rect">
            <a:avLst/>
          </a:prstGeom>
          <a:noFill/>
          <a:ln/>
        </p:spPr>
        <p:txBody>
          <a:bodyPr wrap="square" lIns="0" tIns="0" rIns="0" bIns="0" rtlCol="0" anchor="ctr"/>
          <a:lstStyle/>
          <a:p>
            <a:pPr indent="0" marL="0">
              <a:buNone/>
            </a:pPr>
            <a:r>
              <a:rPr lang="en-US" sz="1800" b="1" dirty="0">
                <a:solidFill>
                  <a:srgbClr val="E8A08C"/>
                </a:solidFill>
                <a:latin typeface="Cambria" pitchFamily="34" charset="0"/>
                <a:ea typeface="Cambria" pitchFamily="34" charset="-122"/>
                <a:cs typeface="Cambria" pitchFamily="34" charset="-120"/>
              </a:rPr>
              <a:t>What the visit becomes</a:t>
            </a:r>
            <a:endParaRPr lang="en-US" sz="1800" dirty="0"/>
          </a:p>
        </p:txBody>
      </p:sp>
      <p:sp>
        <p:nvSpPr>
          <p:cNvPr id="13" name="Body"/>
          <p:cNvSpPr txBox="1"/>
          <p:nvPr/>
        </p:nvSpPr>
        <p:spPr>
          <a:xfrm>
            <a:off x="5120640" y="2926080"/>
            <a:ext cx="320040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3EEE8"/>
                </a:solidFill>
                <a:latin typeface="Calibri" pitchFamily="34" charset="0"/>
                <a:ea typeface="Calibri" pitchFamily="34" charset="-122"/>
                <a:cs typeface="Calibri" pitchFamily="34" charset="-120"/>
              </a:rPr>
              <a:t>Handwrite every note</a:t>
            </a:r>
            <a:endParaRPr lang="en-US" sz="1500" dirty="0"/>
          </a:p>
          <a:p>
            <a:pPr marL="342900" indent="-342900">
              <a:spcAft>
                <a:spcPts val="600"/>
              </a:spcAft>
              <a:buSzPct val="100000"/>
              <a:buChar char="•"/>
            </a:pPr>
            <a:r>
              <a:rPr lang="en-US" sz="1500" dirty="0">
                <a:solidFill>
                  <a:srgbClr val="E3EEE8"/>
                </a:solidFill>
                <a:latin typeface="Calibri" pitchFamily="34" charset="0"/>
                <a:ea typeface="Calibri" pitchFamily="34" charset="-122"/>
                <a:cs typeface="Calibri" pitchFamily="34" charset="-120"/>
              </a:rPr>
              <a:t>Re-copy details into records</a:t>
            </a:r>
            <a:endParaRPr lang="en-US" sz="1500" dirty="0"/>
          </a:p>
          <a:p>
            <a:pPr marL="342900" indent="-342900">
              <a:spcAft>
                <a:spcPts val="600"/>
              </a:spcAft>
              <a:buSzPct val="100000"/>
              <a:buChar char="•"/>
            </a:pPr>
            <a:r>
              <a:rPr lang="en-US" sz="1500" dirty="0">
                <a:solidFill>
                  <a:srgbClr val="E3EEE8"/>
                </a:solidFill>
                <a:latin typeface="Calibri" pitchFamily="34" charset="0"/>
                <a:ea typeface="Calibri" pitchFamily="34" charset="-122"/>
                <a:cs typeface="Calibri" pitchFamily="34" charset="-120"/>
              </a:rPr>
              <a:t>Eyes on paper, not on the patient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3E8E6E"/>
                </a:solidFill>
                <a:latin typeface="Calibri" pitchFamily="34" charset="0"/>
                <a:ea typeface="Calibri" pitchFamily="34" charset="-122"/>
                <a:cs typeface="Calibri" pitchFamily="34" charset="-120"/>
              </a:rPr>
              <a:t>PART 2  ·  THE RESPONSE</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5B6B64"/>
                </a:solidFill>
                <a:latin typeface="Calibri" pitchFamily="34" charset="0"/>
                <a:ea typeface="Calibri" pitchFamily="34" charset="-122"/>
                <a:cs typeface="Calibri" pitchFamily="34" charset="-120"/>
              </a:rPr>
              <a:t>06 / 10</a:t>
            </a:r>
            <a:endParaRPr lang="en-US" sz="1000" dirty="0"/>
          </a:p>
        </p:txBody>
      </p:sp>
      <p:sp>
        <p:nvSpPr>
          <p:cNvPr id="6" name="Title"/>
          <p:cNvSpPr txBox="1"/>
          <p:nvPr/>
        </p:nvSpPr>
        <p:spPr>
          <a:xfrm>
            <a:off x="548640" y="685800"/>
            <a:ext cx="8046720" cy="822960"/>
          </a:xfrm>
          <a:prstGeom prst="rect">
            <a:avLst/>
          </a:prstGeom>
          <a:noFill/>
          <a:ln/>
        </p:spPr>
        <p:txBody>
          <a:bodyPr wrap="square" lIns="0" tIns="0" rIns="0" bIns="0" rtlCol="0" anchor="t"/>
          <a:lstStyle/>
          <a:p>
            <a:pPr indent="0" marL="0">
              <a:buNone/>
            </a:pPr>
            <a:r>
              <a:rPr lang="en-US" sz="3200" b="1" dirty="0">
                <a:solidFill>
                  <a:srgbClr val="0B2E24"/>
                </a:solidFill>
                <a:latin typeface="Cambria" pitchFamily="34" charset="0"/>
                <a:ea typeface="Cambria" pitchFamily="34" charset="-122"/>
                <a:cs typeface="Cambria" pitchFamily="34" charset="-120"/>
              </a:rPr>
              <a:t>One connected system</a:t>
            </a:r>
            <a:endParaRPr lang="en-US" sz="3200" dirty="0"/>
          </a:p>
        </p:txBody>
      </p:sp>
      <p:sp>
        <p:nvSpPr>
          <p:cNvPr id="7" name="Subtitle"/>
          <p:cNvSpPr txBox="1"/>
          <p:nvPr/>
        </p:nvSpPr>
        <p:spPr>
          <a:xfrm>
            <a:off x="548640" y="1371600"/>
            <a:ext cx="7772400" cy="365760"/>
          </a:xfrm>
          <a:prstGeom prst="rect">
            <a:avLst/>
          </a:prstGeom>
          <a:noFill/>
          <a:ln/>
        </p:spPr>
        <p:txBody>
          <a:bodyPr wrap="square" lIns="0" tIns="0" rIns="0" bIns="0" rtlCol="0" anchor="t"/>
          <a:lstStyle/>
          <a:p>
            <a:pPr indent="0" marL="0">
              <a:buNone/>
            </a:pPr>
            <a:r>
              <a:rPr lang="en-US" sz="1600" dirty="0">
                <a:solidFill>
                  <a:srgbClr val="16241F"/>
                </a:solidFill>
                <a:latin typeface="Calibri" pitchFamily="34" charset="0"/>
                <a:ea typeface="Calibri" pitchFamily="34" charset="-122"/>
                <a:cs typeface="Calibri" pitchFamily="34" charset="-120"/>
              </a:rPr>
              <a:t>Each problem from the patient's day has a matching module.</a:t>
            </a:r>
            <a:endParaRPr lang="en-US" sz="1600" dirty="0"/>
          </a:p>
        </p:txBody>
      </p:sp>
      <p:sp>
        <p:nvSpPr>
          <p:cNvPr id="8" name="Module card"/>
          <p:cNvSpPr/>
          <p:nvPr/>
        </p:nvSpPr>
        <p:spPr>
          <a:xfrm>
            <a:off x="548640" y="2103120"/>
            <a:ext cx="1783080" cy="1920240"/>
          </a:xfrm>
          <a:prstGeom prst="roundRect">
            <a:avLst>
              <a:gd name="adj" fmla="val 4103"/>
            </a:avLst>
          </a:prstGeom>
          <a:solidFill>
            <a:srgbClr val="EEF3F0"/>
          </a:solidFill>
          <a:ln w="12700">
            <a:solidFill>
              <a:srgbClr val="EEF3F0"/>
            </a:solidFill>
            <a:prstDash val="solid"/>
          </a:ln>
        </p:spPr>
      </p:sp>
      <p:sp>
        <p:nvSpPr>
          <p:cNvPr id="9" name="Step badge"/>
          <p:cNvSpPr/>
          <p:nvPr/>
        </p:nvSpPr>
        <p:spPr>
          <a:xfrm>
            <a:off x="731520" y="2286000"/>
            <a:ext cx="457200" cy="457200"/>
          </a:xfrm>
          <a:prstGeom prst="ellipse">
            <a:avLst/>
          </a:prstGeom>
          <a:solidFill>
            <a:srgbClr val="14513E"/>
          </a:solidFill>
          <a:ln w="12700">
            <a:solidFill>
              <a:srgbClr val="14513E"/>
            </a:solidFill>
            <a:prstDash val="solid"/>
          </a:ln>
        </p:spPr>
      </p:sp>
      <p:sp>
        <p:nvSpPr>
          <p:cNvPr id="10" name="Step number"/>
          <p:cNvSpPr txBox="1"/>
          <p:nvPr/>
        </p:nvSpPr>
        <p:spPr>
          <a:xfrm>
            <a:off x="731520"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Module name"/>
          <p:cNvSpPr txBox="1"/>
          <p:nvPr/>
        </p:nvSpPr>
        <p:spPr>
          <a:xfrm>
            <a:off x="731520" y="2880360"/>
            <a:ext cx="1417320" cy="320040"/>
          </a:xfrm>
          <a:prstGeom prst="rect">
            <a:avLst/>
          </a:prstGeom>
          <a:noFill/>
          <a:ln/>
        </p:spPr>
        <p:txBody>
          <a:bodyPr wrap="square" lIns="0" tIns="0" rIns="0" bIns="0" rtlCol="0" anchor="ctr"/>
          <a:lstStyle/>
          <a:p>
            <a:pPr indent="0" marL="0">
              <a:buNone/>
            </a:pPr>
            <a:r>
              <a:rPr lang="en-US" sz="1400" b="1" dirty="0">
                <a:solidFill>
                  <a:srgbClr val="0B2E24"/>
                </a:solidFill>
                <a:latin typeface="Cambria" pitchFamily="34" charset="0"/>
                <a:ea typeface="Cambria" pitchFamily="34" charset="-122"/>
                <a:cs typeface="Cambria" pitchFamily="34" charset="-120"/>
              </a:rPr>
              <a:t>Registration</a:t>
            </a:r>
            <a:endParaRPr lang="en-US" sz="1400" dirty="0"/>
          </a:p>
        </p:txBody>
      </p:sp>
      <p:sp>
        <p:nvSpPr>
          <p:cNvPr id="12" name="Module description"/>
          <p:cNvSpPr txBox="1"/>
          <p:nvPr/>
        </p:nvSpPr>
        <p:spPr>
          <a:xfrm>
            <a:off x="731520" y="3200400"/>
            <a:ext cx="1417320" cy="411480"/>
          </a:xfrm>
          <a:prstGeom prst="rect">
            <a:avLst/>
          </a:prstGeom>
          <a:noFill/>
          <a:ln/>
        </p:spPr>
        <p:txBody>
          <a:bodyPr wrap="square" lIns="0" tIns="0" rIns="0" bIns="0" rtlCol="0" anchor="t"/>
          <a:lstStyle/>
          <a:p>
            <a:pPr indent="0" marL="0">
              <a:buNone/>
            </a:pPr>
            <a:r>
              <a:rPr lang="en-US" sz="1200" dirty="0">
                <a:solidFill>
                  <a:srgbClr val="16241F"/>
                </a:solidFill>
                <a:latin typeface="Calibri" pitchFamily="34" charset="0"/>
                <a:ea typeface="Calibri" pitchFamily="34" charset="-122"/>
                <a:cs typeface="Calibri" pitchFamily="34" charset="-120"/>
              </a:rPr>
              <a:t>Check-in and patient identity</a:t>
            </a:r>
            <a:endParaRPr lang="en-US" sz="1200" dirty="0"/>
          </a:p>
        </p:txBody>
      </p:sp>
      <p:sp>
        <p:nvSpPr>
          <p:cNvPr id="13" name="Module outcome"/>
          <p:cNvSpPr txBox="1"/>
          <p:nvPr/>
        </p:nvSpPr>
        <p:spPr>
          <a:xfrm>
            <a:off x="731520" y="3657600"/>
            <a:ext cx="1417320" cy="274320"/>
          </a:xfrm>
          <a:prstGeom prst="rect">
            <a:avLst/>
          </a:prstGeom>
          <a:noFill/>
          <a:ln/>
        </p:spPr>
        <p:txBody>
          <a:bodyPr wrap="square" lIns="0" tIns="0" rIns="0" bIns="0" rtlCol="0" anchor="ctr"/>
          <a:lstStyle/>
          <a:p>
            <a:pPr indent="0" marL="0">
              <a:buNone/>
            </a:pPr>
            <a:r>
              <a:rPr lang="en-US" sz="1200" b="1" i="1" dirty="0">
                <a:solidFill>
                  <a:srgbClr val="3E8E6E"/>
                </a:solidFill>
                <a:latin typeface="Calibri" pitchFamily="34" charset="0"/>
                <a:ea typeface="Calibri" pitchFamily="34" charset="-122"/>
                <a:cs typeface="Calibri" pitchFamily="34" charset="-120"/>
              </a:rPr>
              <a:t>no lost files</a:t>
            </a:r>
            <a:endParaRPr lang="en-US" sz="1200" dirty="0"/>
          </a:p>
        </p:txBody>
      </p:sp>
      <p:sp>
        <p:nvSpPr>
          <p:cNvPr id="14" name="Flow arrow"/>
          <p:cNvSpPr txBox="1"/>
          <p:nvPr/>
        </p:nvSpPr>
        <p:spPr>
          <a:xfrm>
            <a:off x="2331720" y="2743200"/>
            <a:ext cx="301752" cy="457200"/>
          </a:xfrm>
          <a:prstGeom prst="rect">
            <a:avLst/>
          </a:prstGeom>
          <a:noFill/>
          <a:ln/>
        </p:spPr>
        <p:txBody>
          <a:bodyPr wrap="square" lIns="0" tIns="0" rIns="0" bIns="0" rtlCol="0" anchor="ctr"/>
          <a:lstStyle/>
          <a:p>
            <a:pPr algn="ctr" indent="0" marL="0">
              <a:buNone/>
            </a:pPr>
            <a:r>
              <a:rPr lang="en-US" sz="2800" b="1" dirty="0">
                <a:solidFill>
                  <a:srgbClr val="D4A93C"/>
                </a:solidFill>
                <a:latin typeface="Cambria" pitchFamily="34" charset="0"/>
                <a:ea typeface="Cambria" pitchFamily="34" charset="-122"/>
                <a:cs typeface="Cambria" pitchFamily="34" charset="-120"/>
              </a:rPr>
              <a:t>›</a:t>
            </a:r>
            <a:endParaRPr lang="en-US" sz="2800" dirty="0"/>
          </a:p>
        </p:txBody>
      </p:sp>
      <p:sp>
        <p:nvSpPr>
          <p:cNvPr id="15" name="Module card"/>
          <p:cNvSpPr/>
          <p:nvPr/>
        </p:nvSpPr>
        <p:spPr>
          <a:xfrm>
            <a:off x="2633472" y="2103120"/>
            <a:ext cx="1783080" cy="1920240"/>
          </a:xfrm>
          <a:prstGeom prst="roundRect">
            <a:avLst>
              <a:gd name="adj" fmla="val 4103"/>
            </a:avLst>
          </a:prstGeom>
          <a:solidFill>
            <a:srgbClr val="EEF3F0"/>
          </a:solidFill>
          <a:ln w="12700">
            <a:solidFill>
              <a:srgbClr val="EEF3F0"/>
            </a:solidFill>
            <a:prstDash val="solid"/>
          </a:ln>
        </p:spPr>
      </p:sp>
      <p:sp>
        <p:nvSpPr>
          <p:cNvPr id="16" name="Step badge"/>
          <p:cNvSpPr/>
          <p:nvPr/>
        </p:nvSpPr>
        <p:spPr>
          <a:xfrm>
            <a:off x="2816352" y="2286000"/>
            <a:ext cx="457200" cy="457200"/>
          </a:xfrm>
          <a:prstGeom prst="ellipse">
            <a:avLst/>
          </a:prstGeom>
          <a:solidFill>
            <a:srgbClr val="14513E"/>
          </a:solidFill>
          <a:ln w="12700">
            <a:solidFill>
              <a:srgbClr val="14513E"/>
            </a:solidFill>
            <a:prstDash val="solid"/>
          </a:ln>
        </p:spPr>
      </p:sp>
      <p:sp>
        <p:nvSpPr>
          <p:cNvPr id="17" name="Step number"/>
          <p:cNvSpPr txBox="1"/>
          <p:nvPr/>
        </p:nvSpPr>
        <p:spPr>
          <a:xfrm>
            <a:off x="2816352"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Module name"/>
          <p:cNvSpPr txBox="1"/>
          <p:nvPr/>
        </p:nvSpPr>
        <p:spPr>
          <a:xfrm>
            <a:off x="2816352" y="2880360"/>
            <a:ext cx="1417320" cy="320040"/>
          </a:xfrm>
          <a:prstGeom prst="rect">
            <a:avLst/>
          </a:prstGeom>
          <a:noFill/>
          <a:ln/>
        </p:spPr>
        <p:txBody>
          <a:bodyPr wrap="square" lIns="0" tIns="0" rIns="0" bIns="0" rtlCol="0" anchor="ctr"/>
          <a:lstStyle/>
          <a:p>
            <a:pPr indent="0" marL="0">
              <a:buNone/>
            </a:pPr>
            <a:r>
              <a:rPr lang="en-US" sz="1400" b="1" dirty="0">
                <a:solidFill>
                  <a:srgbClr val="0B2E24"/>
                </a:solidFill>
                <a:latin typeface="Cambria" pitchFamily="34" charset="0"/>
                <a:ea typeface="Cambria" pitchFamily="34" charset="-122"/>
                <a:cs typeface="Cambria" pitchFamily="34" charset="-120"/>
              </a:rPr>
              <a:t>Queue engine</a:t>
            </a:r>
            <a:endParaRPr lang="en-US" sz="1400" dirty="0"/>
          </a:p>
        </p:txBody>
      </p:sp>
      <p:sp>
        <p:nvSpPr>
          <p:cNvPr id="19" name="Module description"/>
          <p:cNvSpPr txBox="1"/>
          <p:nvPr/>
        </p:nvSpPr>
        <p:spPr>
          <a:xfrm>
            <a:off x="2816352" y="3200400"/>
            <a:ext cx="1417320" cy="411480"/>
          </a:xfrm>
          <a:prstGeom prst="rect">
            <a:avLst/>
          </a:prstGeom>
          <a:noFill/>
          <a:ln/>
        </p:spPr>
        <p:txBody>
          <a:bodyPr wrap="square" lIns="0" tIns="0" rIns="0" bIns="0" rtlCol="0" anchor="t"/>
          <a:lstStyle/>
          <a:p>
            <a:pPr indent="0" marL="0">
              <a:buNone/>
            </a:pPr>
            <a:r>
              <a:rPr lang="en-US" sz="1200" dirty="0">
                <a:solidFill>
                  <a:srgbClr val="16241F"/>
                </a:solidFill>
                <a:latin typeface="Calibri" pitchFamily="34" charset="0"/>
                <a:ea typeface="Calibri" pitchFamily="34" charset="-122"/>
                <a:cs typeface="Calibri" pitchFamily="34" charset="-120"/>
              </a:rPr>
              <a:t>Ordered tickets, live status</a:t>
            </a:r>
            <a:endParaRPr lang="en-US" sz="1200" dirty="0"/>
          </a:p>
        </p:txBody>
      </p:sp>
      <p:sp>
        <p:nvSpPr>
          <p:cNvPr id="20" name="Module outcome"/>
          <p:cNvSpPr txBox="1"/>
          <p:nvPr/>
        </p:nvSpPr>
        <p:spPr>
          <a:xfrm>
            <a:off x="2816352" y="3657600"/>
            <a:ext cx="1417320" cy="274320"/>
          </a:xfrm>
          <a:prstGeom prst="rect">
            <a:avLst/>
          </a:prstGeom>
          <a:noFill/>
          <a:ln/>
        </p:spPr>
        <p:txBody>
          <a:bodyPr wrap="square" lIns="0" tIns="0" rIns="0" bIns="0" rtlCol="0" anchor="ctr"/>
          <a:lstStyle/>
          <a:p>
            <a:pPr indent="0" marL="0">
              <a:buNone/>
            </a:pPr>
            <a:r>
              <a:rPr lang="en-US" sz="1200" b="1" i="1" dirty="0">
                <a:solidFill>
                  <a:srgbClr val="3E8E6E"/>
                </a:solidFill>
                <a:latin typeface="Calibri" pitchFamily="34" charset="0"/>
                <a:ea typeface="Calibri" pitchFamily="34" charset="-122"/>
                <a:cs typeface="Calibri" pitchFamily="34" charset="-120"/>
              </a:rPr>
              <a:t>no pushing in</a:t>
            </a:r>
            <a:endParaRPr lang="en-US" sz="1200" dirty="0"/>
          </a:p>
        </p:txBody>
      </p:sp>
      <p:sp>
        <p:nvSpPr>
          <p:cNvPr id="21" name="Flow arrow"/>
          <p:cNvSpPr txBox="1"/>
          <p:nvPr/>
        </p:nvSpPr>
        <p:spPr>
          <a:xfrm>
            <a:off x="4416552" y="2743200"/>
            <a:ext cx="301752" cy="457200"/>
          </a:xfrm>
          <a:prstGeom prst="rect">
            <a:avLst/>
          </a:prstGeom>
          <a:noFill/>
          <a:ln/>
        </p:spPr>
        <p:txBody>
          <a:bodyPr wrap="square" lIns="0" tIns="0" rIns="0" bIns="0" rtlCol="0" anchor="ctr"/>
          <a:lstStyle/>
          <a:p>
            <a:pPr algn="ctr" indent="0" marL="0">
              <a:buNone/>
            </a:pPr>
            <a:r>
              <a:rPr lang="en-US" sz="2800" b="1" dirty="0">
                <a:solidFill>
                  <a:srgbClr val="D4A93C"/>
                </a:solidFill>
                <a:latin typeface="Cambria" pitchFamily="34" charset="0"/>
                <a:ea typeface="Cambria" pitchFamily="34" charset="-122"/>
                <a:cs typeface="Cambria" pitchFamily="34" charset="-120"/>
              </a:rPr>
              <a:t>›</a:t>
            </a:r>
            <a:endParaRPr lang="en-US" sz="2800" dirty="0"/>
          </a:p>
        </p:txBody>
      </p:sp>
      <p:sp>
        <p:nvSpPr>
          <p:cNvPr id="22" name="Module card"/>
          <p:cNvSpPr/>
          <p:nvPr/>
        </p:nvSpPr>
        <p:spPr>
          <a:xfrm>
            <a:off x="4718304" y="2103120"/>
            <a:ext cx="1783080" cy="1920240"/>
          </a:xfrm>
          <a:prstGeom prst="roundRect">
            <a:avLst>
              <a:gd name="adj" fmla="val 4103"/>
            </a:avLst>
          </a:prstGeom>
          <a:solidFill>
            <a:srgbClr val="EEF3F0"/>
          </a:solidFill>
          <a:ln w="12700">
            <a:solidFill>
              <a:srgbClr val="EEF3F0"/>
            </a:solidFill>
            <a:prstDash val="solid"/>
          </a:ln>
        </p:spPr>
      </p:sp>
      <p:sp>
        <p:nvSpPr>
          <p:cNvPr id="23" name="Step badge"/>
          <p:cNvSpPr/>
          <p:nvPr/>
        </p:nvSpPr>
        <p:spPr>
          <a:xfrm>
            <a:off x="4901184" y="2286000"/>
            <a:ext cx="457200" cy="457200"/>
          </a:xfrm>
          <a:prstGeom prst="ellipse">
            <a:avLst/>
          </a:prstGeom>
          <a:solidFill>
            <a:srgbClr val="14513E"/>
          </a:solidFill>
          <a:ln w="12700">
            <a:solidFill>
              <a:srgbClr val="14513E"/>
            </a:solidFill>
            <a:prstDash val="solid"/>
          </a:ln>
        </p:spPr>
      </p:sp>
      <p:sp>
        <p:nvSpPr>
          <p:cNvPr id="24" name="Step number"/>
          <p:cNvSpPr txBox="1"/>
          <p:nvPr/>
        </p:nvSpPr>
        <p:spPr>
          <a:xfrm>
            <a:off x="4901184"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5" name="Module name"/>
          <p:cNvSpPr txBox="1"/>
          <p:nvPr/>
        </p:nvSpPr>
        <p:spPr>
          <a:xfrm>
            <a:off x="4901184" y="2880360"/>
            <a:ext cx="1417320" cy="320040"/>
          </a:xfrm>
          <a:prstGeom prst="rect">
            <a:avLst/>
          </a:prstGeom>
          <a:noFill/>
          <a:ln/>
        </p:spPr>
        <p:txBody>
          <a:bodyPr wrap="square" lIns="0" tIns="0" rIns="0" bIns="0" rtlCol="0" anchor="ctr"/>
          <a:lstStyle/>
          <a:p>
            <a:pPr indent="0" marL="0">
              <a:buNone/>
            </a:pPr>
            <a:r>
              <a:rPr lang="en-US" sz="1400" b="1" dirty="0">
                <a:solidFill>
                  <a:srgbClr val="0B2E24"/>
                </a:solidFill>
                <a:latin typeface="Cambria" pitchFamily="34" charset="0"/>
                <a:ea typeface="Cambria" pitchFamily="34" charset="-122"/>
                <a:cs typeface="Cambria" pitchFamily="34" charset="-120"/>
              </a:rPr>
              <a:t>EHR</a:t>
            </a:r>
            <a:endParaRPr lang="en-US" sz="1400" dirty="0"/>
          </a:p>
        </p:txBody>
      </p:sp>
      <p:sp>
        <p:nvSpPr>
          <p:cNvPr id="26" name="Module description"/>
          <p:cNvSpPr txBox="1"/>
          <p:nvPr/>
        </p:nvSpPr>
        <p:spPr>
          <a:xfrm>
            <a:off x="4901184" y="3200400"/>
            <a:ext cx="1417320" cy="411480"/>
          </a:xfrm>
          <a:prstGeom prst="rect">
            <a:avLst/>
          </a:prstGeom>
          <a:noFill/>
          <a:ln/>
        </p:spPr>
        <p:txBody>
          <a:bodyPr wrap="square" lIns="0" tIns="0" rIns="0" bIns="0" rtlCol="0" anchor="t"/>
          <a:lstStyle/>
          <a:p>
            <a:pPr indent="0" marL="0">
              <a:buNone/>
            </a:pPr>
            <a:r>
              <a:rPr lang="en-US" sz="1200" dirty="0">
                <a:solidFill>
                  <a:srgbClr val="16241F"/>
                </a:solidFill>
                <a:latin typeface="Calibri" pitchFamily="34" charset="0"/>
                <a:ea typeface="Calibri" pitchFamily="34" charset="-122"/>
                <a:cs typeface="Calibri" pitchFamily="34" charset="-120"/>
              </a:rPr>
              <a:t>Triage and SOAP notes</a:t>
            </a:r>
            <a:endParaRPr lang="en-US" sz="1200" dirty="0"/>
          </a:p>
        </p:txBody>
      </p:sp>
      <p:sp>
        <p:nvSpPr>
          <p:cNvPr id="27" name="Module outcome"/>
          <p:cNvSpPr txBox="1"/>
          <p:nvPr/>
        </p:nvSpPr>
        <p:spPr>
          <a:xfrm>
            <a:off x="4901184" y="3657600"/>
            <a:ext cx="1417320" cy="274320"/>
          </a:xfrm>
          <a:prstGeom prst="rect">
            <a:avLst/>
          </a:prstGeom>
          <a:noFill/>
          <a:ln/>
        </p:spPr>
        <p:txBody>
          <a:bodyPr wrap="square" lIns="0" tIns="0" rIns="0" bIns="0" rtlCol="0" anchor="ctr"/>
          <a:lstStyle/>
          <a:p>
            <a:pPr indent="0" marL="0">
              <a:buNone/>
            </a:pPr>
            <a:r>
              <a:rPr lang="en-US" sz="1200" b="1" i="1" dirty="0">
                <a:solidFill>
                  <a:srgbClr val="3E8E6E"/>
                </a:solidFill>
                <a:latin typeface="Calibri" pitchFamily="34" charset="0"/>
                <a:ea typeface="Calibri" pitchFamily="34" charset="-122"/>
                <a:cs typeface="Calibri" pitchFamily="34" charset="-120"/>
              </a:rPr>
              <a:t>history is kept</a:t>
            </a:r>
            <a:endParaRPr lang="en-US" sz="1200" dirty="0"/>
          </a:p>
        </p:txBody>
      </p:sp>
      <p:sp>
        <p:nvSpPr>
          <p:cNvPr id="28" name="Flow arrow"/>
          <p:cNvSpPr txBox="1"/>
          <p:nvPr/>
        </p:nvSpPr>
        <p:spPr>
          <a:xfrm>
            <a:off x="6501384" y="2743200"/>
            <a:ext cx="301752" cy="457200"/>
          </a:xfrm>
          <a:prstGeom prst="rect">
            <a:avLst/>
          </a:prstGeom>
          <a:noFill/>
          <a:ln/>
        </p:spPr>
        <p:txBody>
          <a:bodyPr wrap="square" lIns="0" tIns="0" rIns="0" bIns="0" rtlCol="0" anchor="ctr"/>
          <a:lstStyle/>
          <a:p>
            <a:pPr algn="ctr" indent="0" marL="0">
              <a:buNone/>
            </a:pPr>
            <a:r>
              <a:rPr lang="en-US" sz="2800" b="1" dirty="0">
                <a:solidFill>
                  <a:srgbClr val="D4A93C"/>
                </a:solidFill>
                <a:latin typeface="Cambria" pitchFamily="34" charset="0"/>
                <a:ea typeface="Cambria" pitchFamily="34" charset="-122"/>
                <a:cs typeface="Cambria" pitchFamily="34" charset="-120"/>
              </a:rPr>
              <a:t>›</a:t>
            </a:r>
            <a:endParaRPr lang="en-US" sz="2800" dirty="0"/>
          </a:p>
        </p:txBody>
      </p:sp>
      <p:sp>
        <p:nvSpPr>
          <p:cNvPr id="29" name="Module card"/>
          <p:cNvSpPr/>
          <p:nvPr/>
        </p:nvSpPr>
        <p:spPr>
          <a:xfrm>
            <a:off x="6803136" y="2103120"/>
            <a:ext cx="1783080" cy="1920240"/>
          </a:xfrm>
          <a:prstGeom prst="roundRect">
            <a:avLst>
              <a:gd name="adj" fmla="val 4103"/>
            </a:avLst>
          </a:prstGeom>
          <a:solidFill>
            <a:srgbClr val="EEF3F0"/>
          </a:solidFill>
          <a:ln w="12700">
            <a:solidFill>
              <a:srgbClr val="EEF3F0"/>
            </a:solidFill>
            <a:prstDash val="solid"/>
          </a:ln>
        </p:spPr>
      </p:sp>
      <p:sp>
        <p:nvSpPr>
          <p:cNvPr id="30" name="Step badge"/>
          <p:cNvSpPr/>
          <p:nvPr/>
        </p:nvSpPr>
        <p:spPr>
          <a:xfrm>
            <a:off x="6986016" y="2286000"/>
            <a:ext cx="457200" cy="457200"/>
          </a:xfrm>
          <a:prstGeom prst="ellipse">
            <a:avLst/>
          </a:prstGeom>
          <a:solidFill>
            <a:srgbClr val="14513E"/>
          </a:solidFill>
          <a:ln w="12700">
            <a:solidFill>
              <a:srgbClr val="14513E"/>
            </a:solidFill>
            <a:prstDash val="solid"/>
          </a:ln>
        </p:spPr>
      </p:sp>
      <p:sp>
        <p:nvSpPr>
          <p:cNvPr id="31" name="Step number"/>
          <p:cNvSpPr txBox="1"/>
          <p:nvPr/>
        </p:nvSpPr>
        <p:spPr>
          <a:xfrm>
            <a:off x="6986016"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2" name="Module name"/>
          <p:cNvSpPr txBox="1"/>
          <p:nvPr/>
        </p:nvSpPr>
        <p:spPr>
          <a:xfrm>
            <a:off x="6986016" y="2880360"/>
            <a:ext cx="1417320" cy="320040"/>
          </a:xfrm>
          <a:prstGeom prst="rect">
            <a:avLst/>
          </a:prstGeom>
          <a:noFill/>
          <a:ln/>
        </p:spPr>
        <p:txBody>
          <a:bodyPr wrap="square" lIns="0" tIns="0" rIns="0" bIns="0" rtlCol="0" anchor="ctr"/>
          <a:lstStyle/>
          <a:p>
            <a:pPr indent="0" marL="0">
              <a:buNone/>
            </a:pPr>
            <a:r>
              <a:rPr lang="en-US" sz="1400" b="1" dirty="0">
                <a:solidFill>
                  <a:srgbClr val="0B2E24"/>
                </a:solidFill>
                <a:latin typeface="Cambria" pitchFamily="34" charset="0"/>
                <a:ea typeface="Cambria" pitchFamily="34" charset="-122"/>
                <a:cs typeface="Cambria" pitchFamily="34" charset="-120"/>
              </a:rPr>
              <a:t>AI scribe</a:t>
            </a:r>
            <a:endParaRPr lang="en-US" sz="1400" dirty="0"/>
          </a:p>
        </p:txBody>
      </p:sp>
      <p:sp>
        <p:nvSpPr>
          <p:cNvPr id="33" name="Module description"/>
          <p:cNvSpPr txBox="1"/>
          <p:nvPr/>
        </p:nvSpPr>
        <p:spPr>
          <a:xfrm>
            <a:off x="6986016" y="3200400"/>
            <a:ext cx="1417320" cy="411480"/>
          </a:xfrm>
          <a:prstGeom prst="rect">
            <a:avLst/>
          </a:prstGeom>
          <a:noFill/>
          <a:ln/>
        </p:spPr>
        <p:txBody>
          <a:bodyPr wrap="square" lIns="0" tIns="0" rIns="0" bIns="0" rtlCol="0" anchor="t"/>
          <a:lstStyle/>
          <a:p>
            <a:pPr indent="0" marL="0">
              <a:buNone/>
            </a:pPr>
            <a:r>
              <a:rPr lang="en-US" sz="1200" dirty="0">
                <a:solidFill>
                  <a:srgbClr val="16241F"/>
                </a:solidFill>
                <a:latin typeface="Calibri" pitchFamily="34" charset="0"/>
                <a:ea typeface="Calibri" pitchFamily="34" charset="-122"/>
                <a:cs typeface="Calibri" pitchFamily="34" charset="-120"/>
              </a:rPr>
              <a:t>Voice to draft note</a:t>
            </a:r>
            <a:endParaRPr lang="en-US" sz="1200" dirty="0"/>
          </a:p>
        </p:txBody>
      </p:sp>
      <p:sp>
        <p:nvSpPr>
          <p:cNvPr id="34" name="Module outcome"/>
          <p:cNvSpPr txBox="1"/>
          <p:nvPr/>
        </p:nvSpPr>
        <p:spPr>
          <a:xfrm>
            <a:off x="6986016" y="3657600"/>
            <a:ext cx="1417320" cy="274320"/>
          </a:xfrm>
          <a:prstGeom prst="rect">
            <a:avLst/>
          </a:prstGeom>
          <a:noFill/>
          <a:ln/>
        </p:spPr>
        <p:txBody>
          <a:bodyPr wrap="square" lIns="0" tIns="0" rIns="0" bIns="0" rtlCol="0" anchor="ctr"/>
          <a:lstStyle/>
          <a:p>
            <a:pPr indent="0" marL="0">
              <a:buNone/>
            </a:pPr>
            <a:r>
              <a:rPr lang="en-US" sz="1200" b="1" i="1" dirty="0">
                <a:solidFill>
                  <a:srgbClr val="3E8E6E"/>
                </a:solidFill>
                <a:latin typeface="Calibri" pitchFamily="34" charset="0"/>
                <a:ea typeface="Calibri" pitchFamily="34" charset="-122"/>
                <a:cs typeface="Calibri" pitchFamily="34" charset="-120"/>
              </a:rPr>
              <a:t>less writing</a:t>
            </a:r>
            <a:endParaRPr lang="en-US" sz="1200" dirty="0"/>
          </a:p>
        </p:txBody>
      </p:sp>
      <p:sp>
        <p:nvSpPr>
          <p:cNvPr id="35" name="Roadmap note"/>
          <p:cNvSpPr txBox="1"/>
          <p:nvPr/>
        </p:nvSpPr>
        <p:spPr>
          <a:xfrm>
            <a:off x="548640" y="4251960"/>
            <a:ext cx="8046720" cy="274320"/>
          </a:xfrm>
          <a:prstGeom prst="rect">
            <a:avLst/>
          </a:prstGeom>
          <a:noFill/>
          <a:ln/>
        </p:spPr>
        <p:txBody>
          <a:bodyPr wrap="square" lIns="0" tIns="0" rIns="0" bIns="0" rtlCol="0" anchor="ctr"/>
          <a:lstStyle/>
          <a:p>
            <a:pPr indent="0" marL="0">
              <a:buNone/>
            </a:pPr>
            <a:r>
              <a:rPr lang="en-US" sz="1200" i="1" dirty="0">
                <a:solidFill>
                  <a:srgbClr val="5B6B64"/>
                </a:solidFill>
                <a:latin typeface="Calibri" pitchFamily="34" charset="0"/>
                <a:ea typeface="Calibri" pitchFamily="34" charset="-122"/>
                <a:cs typeface="Calibri" pitchFamily="34" charset="-120"/>
              </a:rPr>
              <a:t>Designed, with event hooks in place, not yet built:  Billing  ·  Pharmacy and inventory  ·  Cloud sync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3E8E6E"/>
                </a:solidFill>
                <a:latin typeface="Calibri" pitchFamily="34" charset="0"/>
                <a:ea typeface="Calibri" pitchFamily="34" charset="-122"/>
                <a:cs typeface="Calibri" pitchFamily="34" charset="-120"/>
              </a:rPr>
              <a:t>PART 2  ·  TECHNICAL DESIGN</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5B6B64"/>
                </a:solidFill>
                <a:latin typeface="Calibri" pitchFamily="34" charset="0"/>
                <a:ea typeface="Calibri" pitchFamily="34" charset="-122"/>
                <a:cs typeface="Calibri" pitchFamily="34" charset="-120"/>
              </a:rPr>
              <a:t>07 / 10</a:t>
            </a:r>
            <a:endParaRPr lang="en-US" sz="1000" dirty="0"/>
          </a:p>
        </p:txBody>
      </p:sp>
      <p:sp>
        <p:nvSpPr>
          <p:cNvPr id="6" name="Title"/>
          <p:cNvSpPr txBox="1"/>
          <p:nvPr/>
        </p:nvSpPr>
        <p:spPr>
          <a:xfrm>
            <a:off x="548640" y="685800"/>
            <a:ext cx="8046720" cy="822960"/>
          </a:xfrm>
          <a:prstGeom prst="rect">
            <a:avLst/>
          </a:prstGeom>
          <a:noFill/>
          <a:ln/>
        </p:spPr>
        <p:txBody>
          <a:bodyPr wrap="square" lIns="0" tIns="0" rIns="0" bIns="0" rtlCol="0" anchor="t"/>
          <a:lstStyle/>
          <a:p>
            <a:pPr indent="0" marL="0">
              <a:buNone/>
            </a:pPr>
            <a:r>
              <a:rPr lang="en-US" sz="3200" b="1" dirty="0">
                <a:solidFill>
                  <a:srgbClr val="0B2E24"/>
                </a:solidFill>
                <a:latin typeface="Cambria" pitchFamily="34" charset="0"/>
                <a:ea typeface="Cambria" pitchFamily="34" charset="-122"/>
                <a:cs typeface="Cambria" pitchFamily="34" charset="-120"/>
              </a:rPr>
              <a:t>One server per facility</a:t>
            </a:r>
            <a:endParaRPr lang="en-US" sz="3200" dirty="0"/>
          </a:p>
        </p:txBody>
      </p:sp>
      <p:sp>
        <p:nvSpPr>
          <p:cNvPr id="7" name="Layer"/>
          <p:cNvSpPr/>
          <p:nvPr/>
        </p:nvSpPr>
        <p:spPr>
          <a:xfrm>
            <a:off x="548640" y="1417320"/>
            <a:ext cx="5120640" cy="640080"/>
          </a:xfrm>
          <a:prstGeom prst="roundRect">
            <a:avLst>
              <a:gd name="adj" fmla="val 11429"/>
            </a:avLst>
          </a:prstGeom>
          <a:solidFill>
            <a:srgbClr val="EEF3F0"/>
          </a:solidFill>
          <a:ln w="12700">
            <a:solidFill>
              <a:srgbClr val="EEF3F0"/>
            </a:solidFill>
            <a:prstDash val="solid"/>
          </a:ln>
        </p:spPr>
      </p:sp>
      <p:sp>
        <p:nvSpPr>
          <p:cNvPr id="8" name="Layer name"/>
          <p:cNvSpPr txBox="1"/>
          <p:nvPr/>
        </p:nvSpPr>
        <p:spPr>
          <a:xfrm>
            <a:off x="731520" y="1417320"/>
            <a:ext cx="1188720" cy="640080"/>
          </a:xfrm>
          <a:prstGeom prst="rect">
            <a:avLst/>
          </a:prstGeom>
          <a:noFill/>
          <a:ln/>
        </p:spPr>
        <p:txBody>
          <a:bodyPr wrap="square" lIns="0" tIns="0" rIns="0" bIns="0" rtlCol="0" anchor="ctr"/>
          <a:lstStyle/>
          <a:p>
            <a:pPr indent="0" marL="0">
              <a:buNone/>
            </a:pPr>
            <a:r>
              <a:rPr lang="en-US" sz="1400" b="1" dirty="0">
                <a:solidFill>
                  <a:srgbClr val="14513E"/>
                </a:solidFill>
                <a:latin typeface="Cambria" pitchFamily="34" charset="0"/>
                <a:ea typeface="Cambria" pitchFamily="34" charset="-122"/>
                <a:cs typeface="Cambria" pitchFamily="34" charset="-120"/>
              </a:rPr>
              <a:t>Clients</a:t>
            </a:r>
            <a:endParaRPr lang="en-US" sz="1400" dirty="0"/>
          </a:p>
        </p:txBody>
      </p:sp>
      <p:sp>
        <p:nvSpPr>
          <p:cNvPr id="9" name="Layer detail"/>
          <p:cNvSpPr txBox="1"/>
          <p:nvPr/>
        </p:nvSpPr>
        <p:spPr>
          <a:xfrm>
            <a:off x="1920240" y="1417320"/>
            <a:ext cx="3611880" cy="640080"/>
          </a:xfrm>
          <a:prstGeom prst="rect">
            <a:avLst/>
          </a:prstGeom>
          <a:noFill/>
          <a:ln/>
        </p:spPr>
        <p:txBody>
          <a:bodyPr wrap="square" lIns="0" tIns="0" rIns="0" bIns="0" rtlCol="0" anchor="ctr"/>
          <a:lstStyle/>
          <a:p>
            <a:pPr indent="0" marL="0">
              <a:buNone/>
            </a:pPr>
            <a:r>
              <a:rPr lang="en-US" sz="1300" dirty="0">
                <a:solidFill>
                  <a:srgbClr val="0B2E24"/>
                </a:solidFill>
                <a:latin typeface="Calibri" pitchFamily="34" charset="0"/>
                <a:ea typeface="Calibri" pitchFamily="34" charset="-122"/>
                <a:cs typeface="Calibri" pitchFamily="34" charset="-120"/>
              </a:rPr>
              <a:t>Reception  ·  Nurse  ·  Doctor  ·  Admin</a:t>
            </a:r>
            <a:endParaRPr lang="en-US" sz="1300" dirty="0"/>
          </a:p>
        </p:txBody>
      </p:sp>
      <p:sp>
        <p:nvSpPr>
          <p:cNvPr id="10" name="Layer"/>
          <p:cNvSpPr/>
          <p:nvPr/>
        </p:nvSpPr>
        <p:spPr>
          <a:xfrm>
            <a:off x="548640" y="2194560"/>
            <a:ext cx="5120640" cy="640080"/>
          </a:xfrm>
          <a:prstGeom prst="roundRect">
            <a:avLst>
              <a:gd name="adj" fmla="val 11429"/>
            </a:avLst>
          </a:prstGeom>
          <a:solidFill>
            <a:srgbClr val="14513E"/>
          </a:solidFill>
          <a:ln w="12700">
            <a:solidFill>
              <a:srgbClr val="14513E"/>
            </a:solidFill>
            <a:prstDash val="solid"/>
          </a:ln>
        </p:spPr>
      </p:sp>
      <p:sp>
        <p:nvSpPr>
          <p:cNvPr id="11" name="Layer name"/>
          <p:cNvSpPr txBox="1"/>
          <p:nvPr/>
        </p:nvSpPr>
        <p:spPr>
          <a:xfrm>
            <a:off x="731520" y="2194560"/>
            <a:ext cx="1188720" cy="640080"/>
          </a:xfrm>
          <a:prstGeom prst="rect">
            <a:avLst/>
          </a:prstGeom>
          <a:noFill/>
          <a:ln/>
        </p:spPr>
        <p:txBody>
          <a:bodyPr wrap="square" lIns="0" tIns="0" rIns="0" bIns="0" rtlCol="0" anchor="ctr"/>
          <a:lstStyle/>
          <a:p>
            <a:pPr indent="0" marL="0">
              <a:buNone/>
            </a:pPr>
            <a:r>
              <a:rPr lang="en-US" sz="1400" b="1" dirty="0">
                <a:solidFill>
                  <a:srgbClr val="D4A93C"/>
                </a:solidFill>
                <a:latin typeface="Cambria" pitchFamily="34" charset="0"/>
                <a:ea typeface="Cambria" pitchFamily="34" charset="-122"/>
                <a:cs typeface="Cambria" pitchFamily="34" charset="-120"/>
              </a:rPr>
              <a:t>FastAPI</a:t>
            </a:r>
            <a:endParaRPr lang="en-US" sz="1400" dirty="0"/>
          </a:p>
        </p:txBody>
      </p:sp>
      <p:sp>
        <p:nvSpPr>
          <p:cNvPr id="12" name="Layer detail"/>
          <p:cNvSpPr txBox="1"/>
          <p:nvPr/>
        </p:nvSpPr>
        <p:spPr>
          <a:xfrm>
            <a:off x="1920240" y="2194560"/>
            <a:ext cx="361188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Core · Registration · Queues · EHR · Scribe</a:t>
            </a:r>
            <a:endParaRPr lang="en-US" sz="1300" dirty="0"/>
          </a:p>
        </p:txBody>
      </p:sp>
      <p:sp>
        <p:nvSpPr>
          <p:cNvPr id="13" name="Layer"/>
          <p:cNvSpPr/>
          <p:nvPr/>
        </p:nvSpPr>
        <p:spPr>
          <a:xfrm>
            <a:off x="548640" y="2971800"/>
            <a:ext cx="5120640" cy="640080"/>
          </a:xfrm>
          <a:prstGeom prst="roundRect">
            <a:avLst>
              <a:gd name="adj" fmla="val 11429"/>
            </a:avLst>
          </a:prstGeom>
          <a:solidFill>
            <a:srgbClr val="3E8E6E"/>
          </a:solidFill>
          <a:ln w="12700">
            <a:solidFill>
              <a:srgbClr val="3E8E6E"/>
            </a:solidFill>
            <a:prstDash val="solid"/>
          </a:ln>
        </p:spPr>
      </p:sp>
      <p:sp>
        <p:nvSpPr>
          <p:cNvPr id="14" name="Layer name"/>
          <p:cNvSpPr txBox="1"/>
          <p:nvPr/>
        </p:nvSpPr>
        <p:spPr>
          <a:xfrm>
            <a:off x="731520" y="2971800"/>
            <a:ext cx="1188720" cy="640080"/>
          </a:xfrm>
          <a:prstGeom prst="rect">
            <a:avLst/>
          </a:prstGeom>
          <a:noFill/>
          <a:ln/>
        </p:spPr>
        <p:txBody>
          <a:bodyPr wrap="square" lIns="0" tIns="0" rIns="0" bIns="0" rtlCol="0" anchor="ctr"/>
          <a:lstStyle/>
          <a:p>
            <a:pPr indent="0" marL="0">
              <a:buNone/>
            </a:pPr>
            <a:r>
              <a:rPr lang="en-US" sz="1400" b="1" dirty="0">
                <a:solidFill>
                  <a:srgbClr val="D4A93C"/>
                </a:solidFill>
                <a:latin typeface="Cambria" pitchFamily="34" charset="0"/>
                <a:ea typeface="Cambria" pitchFamily="34" charset="-122"/>
                <a:cs typeface="Cambria" pitchFamily="34" charset="-120"/>
              </a:rPr>
              <a:t>Real-time</a:t>
            </a:r>
            <a:endParaRPr lang="en-US" sz="1400" dirty="0"/>
          </a:p>
        </p:txBody>
      </p:sp>
      <p:sp>
        <p:nvSpPr>
          <p:cNvPr id="15" name="Layer detail"/>
          <p:cNvSpPr txBox="1"/>
          <p:nvPr/>
        </p:nvSpPr>
        <p:spPr>
          <a:xfrm>
            <a:off x="1920240" y="2971800"/>
            <a:ext cx="361188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Event bus  ·  WebSocket queue updates</a:t>
            </a:r>
            <a:endParaRPr lang="en-US" sz="1300" dirty="0"/>
          </a:p>
        </p:txBody>
      </p:sp>
      <p:sp>
        <p:nvSpPr>
          <p:cNvPr id="16" name="Layer"/>
          <p:cNvSpPr/>
          <p:nvPr/>
        </p:nvSpPr>
        <p:spPr>
          <a:xfrm>
            <a:off x="548640" y="3749040"/>
            <a:ext cx="5120640" cy="640080"/>
          </a:xfrm>
          <a:prstGeom prst="roundRect">
            <a:avLst>
              <a:gd name="adj" fmla="val 11429"/>
            </a:avLst>
          </a:prstGeom>
          <a:solidFill>
            <a:srgbClr val="EEF3F0"/>
          </a:solidFill>
          <a:ln w="12700">
            <a:solidFill>
              <a:srgbClr val="EEF3F0"/>
            </a:solidFill>
            <a:prstDash val="solid"/>
          </a:ln>
        </p:spPr>
      </p:sp>
      <p:sp>
        <p:nvSpPr>
          <p:cNvPr id="17" name="Layer name"/>
          <p:cNvSpPr txBox="1"/>
          <p:nvPr/>
        </p:nvSpPr>
        <p:spPr>
          <a:xfrm>
            <a:off x="731520" y="3749040"/>
            <a:ext cx="1188720" cy="640080"/>
          </a:xfrm>
          <a:prstGeom prst="rect">
            <a:avLst/>
          </a:prstGeom>
          <a:noFill/>
          <a:ln/>
        </p:spPr>
        <p:txBody>
          <a:bodyPr wrap="square" lIns="0" tIns="0" rIns="0" bIns="0" rtlCol="0" anchor="ctr"/>
          <a:lstStyle/>
          <a:p>
            <a:pPr indent="0" marL="0">
              <a:buNone/>
            </a:pPr>
            <a:r>
              <a:rPr lang="en-US" sz="1400" b="1" dirty="0">
                <a:solidFill>
                  <a:srgbClr val="14513E"/>
                </a:solidFill>
                <a:latin typeface="Cambria" pitchFamily="34" charset="0"/>
                <a:ea typeface="Cambria" pitchFamily="34" charset="-122"/>
                <a:cs typeface="Cambria" pitchFamily="34" charset="-120"/>
              </a:rPr>
              <a:t>Data</a:t>
            </a:r>
            <a:endParaRPr lang="en-US" sz="1400" dirty="0"/>
          </a:p>
        </p:txBody>
      </p:sp>
      <p:sp>
        <p:nvSpPr>
          <p:cNvPr id="18" name="Layer detail"/>
          <p:cNvSpPr txBox="1"/>
          <p:nvPr/>
        </p:nvSpPr>
        <p:spPr>
          <a:xfrm>
            <a:off x="1920240" y="3749040"/>
            <a:ext cx="3611880" cy="640080"/>
          </a:xfrm>
          <a:prstGeom prst="rect">
            <a:avLst/>
          </a:prstGeom>
          <a:noFill/>
          <a:ln/>
        </p:spPr>
        <p:txBody>
          <a:bodyPr wrap="square" lIns="0" tIns="0" rIns="0" bIns="0" rtlCol="0" anchor="ctr"/>
          <a:lstStyle/>
          <a:p>
            <a:pPr indent="0" marL="0">
              <a:buNone/>
            </a:pPr>
            <a:r>
              <a:rPr lang="en-US" sz="1300" dirty="0">
                <a:solidFill>
                  <a:srgbClr val="0B2E24"/>
                </a:solidFill>
                <a:latin typeface="Calibri" pitchFamily="34" charset="0"/>
                <a:ea typeface="Calibri" pitchFamily="34" charset="-122"/>
                <a:cs typeface="Calibri" pitchFamily="34" charset="-120"/>
              </a:rPr>
              <a:t>PostgreSQL 16 (SQLite in dev) · Alembic</a:t>
            </a:r>
            <a:endParaRPr lang="en-US" sz="1300" dirty="0"/>
          </a:p>
        </p:txBody>
      </p:sp>
      <p:sp>
        <p:nvSpPr>
          <p:cNvPr id="19" name="Decisions card"/>
          <p:cNvSpPr/>
          <p:nvPr/>
        </p:nvSpPr>
        <p:spPr>
          <a:xfrm>
            <a:off x="6035040" y="1417320"/>
            <a:ext cx="2560320" cy="2971800"/>
          </a:xfrm>
          <a:prstGeom prst="roundRect">
            <a:avLst>
              <a:gd name="adj" fmla="val 2857"/>
            </a:avLst>
          </a:prstGeom>
          <a:solidFill>
            <a:srgbClr val="EEF3F0"/>
          </a:solidFill>
          <a:ln w="12700">
            <a:solidFill>
              <a:srgbClr val="EEF3F0"/>
            </a:solidFill>
            <a:prstDash val="solid"/>
          </a:ln>
        </p:spPr>
      </p:sp>
      <p:sp>
        <p:nvSpPr>
          <p:cNvPr id="20" name="Card heading"/>
          <p:cNvSpPr txBox="1"/>
          <p:nvPr/>
        </p:nvSpPr>
        <p:spPr>
          <a:xfrm>
            <a:off x="6263640" y="1554480"/>
            <a:ext cx="2103120" cy="320040"/>
          </a:xfrm>
          <a:prstGeom prst="rect">
            <a:avLst/>
          </a:prstGeom>
          <a:noFill/>
          <a:ln/>
        </p:spPr>
        <p:txBody>
          <a:bodyPr wrap="square" lIns="0" tIns="0" rIns="0" bIns="0" rtlCol="0" anchor="ctr"/>
          <a:lstStyle/>
          <a:p>
            <a:pPr indent="0" marL="0">
              <a:buNone/>
            </a:pPr>
            <a:r>
              <a:rPr lang="en-US" sz="1600" b="1" dirty="0">
                <a:solidFill>
                  <a:srgbClr val="0B2E24"/>
                </a:solidFill>
                <a:latin typeface="Cambria" pitchFamily="34" charset="0"/>
                <a:ea typeface="Cambria" pitchFamily="34" charset="-122"/>
                <a:cs typeface="Cambria" pitchFamily="34" charset="-120"/>
              </a:rPr>
              <a:t>Key decisions</a:t>
            </a:r>
            <a:endParaRPr lang="en-US" sz="1600" dirty="0"/>
          </a:p>
        </p:txBody>
      </p:sp>
      <p:sp>
        <p:nvSpPr>
          <p:cNvPr id="21" name="Body"/>
          <p:cNvSpPr txBox="1"/>
          <p:nvPr/>
        </p:nvSpPr>
        <p:spPr>
          <a:xfrm>
            <a:off x="6263640" y="1965960"/>
            <a:ext cx="214884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6241F"/>
                </a:solidFill>
                <a:latin typeface="Calibri" pitchFamily="34" charset="0"/>
                <a:ea typeface="Calibri" pitchFamily="34" charset="-122"/>
                <a:cs typeface="Calibri" pitchFamily="34" charset="-120"/>
              </a:rPr>
              <a:t>Runs on the facility LAN, offline-capable</a:t>
            </a:r>
            <a:endParaRPr lang="en-US" sz="1300" dirty="0"/>
          </a:p>
          <a:p>
            <a:pPr marL="342900" indent="-342900">
              <a:spcAft>
                <a:spcPts val="800"/>
              </a:spcAft>
              <a:buSzPct val="100000"/>
              <a:buChar char="•"/>
            </a:pPr>
            <a:r>
              <a:rPr lang="en-US" sz="1300" dirty="0">
                <a:solidFill>
                  <a:srgbClr val="16241F"/>
                </a:solidFill>
                <a:latin typeface="Calibri" pitchFamily="34" charset="0"/>
                <a:ea typeface="Calibri" pitchFamily="34" charset="-122"/>
                <a:cs typeface="Calibri" pitchFamily="34" charset="-120"/>
              </a:rPr>
              <a:t>Modular, so billing and pharmacy plug in</a:t>
            </a:r>
            <a:endParaRPr lang="en-US" sz="1300" dirty="0"/>
          </a:p>
          <a:p>
            <a:pPr marL="342900" indent="-342900">
              <a:spcAft>
                <a:spcPts val="800"/>
              </a:spcAft>
              <a:buSzPct val="100000"/>
              <a:buChar char="•"/>
            </a:pPr>
            <a:r>
              <a:rPr lang="en-US" sz="1300" dirty="0">
                <a:solidFill>
                  <a:srgbClr val="16241F"/>
                </a:solidFill>
                <a:latin typeface="Calibri" pitchFamily="34" charset="0"/>
                <a:ea typeface="Calibri" pitchFamily="34" charset="-122"/>
                <a:cs typeface="Calibri" pitchFamily="34" charset="-120"/>
              </a:rPr>
              <a:t>Docker Compose deploy on one server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E24"/>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D4A93C"/>
                </a:solidFill>
                <a:latin typeface="Calibri" pitchFamily="34" charset="0"/>
                <a:ea typeface="Calibri" pitchFamily="34" charset="-122"/>
                <a:cs typeface="Calibri" pitchFamily="34" charset="-120"/>
              </a:rPr>
              <a:t>PART 2  ·  TECHNICAL DESIGN</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9CC5B2"/>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08 / 10</a:t>
            </a:r>
            <a:endParaRPr lang="en-US" sz="1000" dirty="0"/>
          </a:p>
        </p:txBody>
      </p:sp>
      <p:sp>
        <p:nvSpPr>
          <p:cNvPr id="6" name="Title"/>
          <p:cNvSpPr txBox="1"/>
          <p:nvPr/>
        </p:nvSpPr>
        <p:spPr>
          <a:xfrm>
            <a:off x="548640" y="685800"/>
            <a:ext cx="8046720" cy="8229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AI scribe runs on-site</a:t>
            </a:r>
            <a:endParaRPr lang="en-US" sz="3200" dirty="0"/>
          </a:p>
        </p:txBody>
      </p:sp>
      <p:sp>
        <p:nvSpPr>
          <p:cNvPr id="7" name="Pipeline step"/>
          <p:cNvSpPr/>
          <p:nvPr/>
        </p:nvSpPr>
        <p:spPr>
          <a:xfrm>
            <a:off x="548640" y="1737360"/>
            <a:ext cx="1783080" cy="1371600"/>
          </a:xfrm>
          <a:prstGeom prst="roundRect">
            <a:avLst>
              <a:gd name="adj" fmla="val 5333"/>
            </a:avLst>
          </a:prstGeom>
          <a:solidFill>
            <a:srgbClr val="14513E"/>
          </a:solidFill>
          <a:ln w="12700">
            <a:solidFill>
              <a:srgbClr val="14513E"/>
            </a:solidFill>
            <a:prstDash val="solid"/>
          </a:ln>
        </p:spPr>
      </p:sp>
      <p:sp>
        <p:nvSpPr>
          <p:cNvPr id="8" name="Step name"/>
          <p:cNvSpPr txBox="1"/>
          <p:nvPr/>
        </p:nvSpPr>
        <p:spPr>
          <a:xfrm>
            <a:off x="685800" y="1920240"/>
            <a:ext cx="15087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Consultation</a:t>
            </a:r>
            <a:endParaRPr lang="en-US" sz="1600" dirty="0"/>
          </a:p>
        </p:txBody>
      </p:sp>
      <p:sp>
        <p:nvSpPr>
          <p:cNvPr id="9" name="Step detail"/>
          <p:cNvSpPr txBox="1"/>
          <p:nvPr/>
        </p:nvSpPr>
        <p:spPr>
          <a:xfrm>
            <a:off x="685800" y="2331720"/>
            <a:ext cx="1508760" cy="640080"/>
          </a:xfrm>
          <a:prstGeom prst="rect">
            <a:avLst/>
          </a:prstGeom>
          <a:noFill/>
          <a:ln/>
        </p:spPr>
        <p:txBody>
          <a:bodyPr wrap="square" lIns="0" tIns="0" rIns="0" bIns="0" rtlCol="0" anchor="t"/>
          <a:lstStyle/>
          <a:p>
            <a:pPr indent="0" marL="0">
              <a:buNone/>
            </a:pPr>
            <a:r>
              <a:rPr lang="en-US" sz="1300" dirty="0">
                <a:solidFill>
                  <a:srgbClr val="E3EEE8"/>
                </a:solidFill>
                <a:latin typeface="Calibri" pitchFamily="34" charset="0"/>
                <a:ea typeface="Calibri" pitchFamily="34" charset="-122"/>
                <a:cs typeface="Calibri" pitchFamily="34" charset="-120"/>
              </a:rPr>
              <a:t>Doctor and patient speak</a:t>
            </a:r>
            <a:endParaRPr lang="en-US" sz="1300" dirty="0"/>
          </a:p>
        </p:txBody>
      </p:sp>
      <p:sp>
        <p:nvSpPr>
          <p:cNvPr id="10" name="Flow arrow"/>
          <p:cNvSpPr txBox="1"/>
          <p:nvPr/>
        </p:nvSpPr>
        <p:spPr>
          <a:xfrm>
            <a:off x="2331720" y="2103120"/>
            <a:ext cx="301752" cy="457200"/>
          </a:xfrm>
          <a:prstGeom prst="rect">
            <a:avLst/>
          </a:prstGeom>
          <a:noFill/>
          <a:ln/>
        </p:spPr>
        <p:txBody>
          <a:bodyPr wrap="square" lIns="0" tIns="0" rIns="0" bIns="0" rtlCol="0" anchor="ctr"/>
          <a:lstStyle/>
          <a:p>
            <a:pPr algn="ctr" indent="0" marL="0">
              <a:buNone/>
            </a:pPr>
            <a:r>
              <a:rPr lang="en-US" sz="2800" b="1" dirty="0">
                <a:solidFill>
                  <a:srgbClr val="D4A93C"/>
                </a:solidFill>
                <a:latin typeface="Cambria" pitchFamily="34" charset="0"/>
                <a:ea typeface="Cambria" pitchFamily="34" charset="-122"/>
                <a:cs typeface="Cambria" pitchFamily="34" charset="-120"/>
              </a:rPr>
              <a:t>›</a:t>
            </a:r>
            <a:endParaRPr lang="en-US" sz="2800" dirty="0"/>
          </a:p>
        </p:txBody>
      </p:sp>
      <p:sp>
        <p:nvSpPr>
          <p:cNvPr id="11" name="Pipeline step"/>
          <p:cNvSpPr/>
          <p:nvPr/>
        </p:nvSpPr>
        <p:spPr>
          <a:xfrm>
            <a:off x="2633472" y="1737360"/>
            <a:ext cx="1783080" cy="1371600"/>
          </a:xfrm>
          <a:prstGeom prst="roundRect">
            <a:avLst>
              <a:gd name="adj" fmla="val 5333"/>
            </a:avLst>
          </a:prstGeom>
          <a:solidFill>
            <a:srgbClr val="14513E"/>
          </a:solidFill>
          <a:ln w="12700">
            <a:solidFill>
              <a:srgbClr val="14513E"/>
            </a:solidFill>
            <a:prstDash val="solid"/>
          </a:ln>
        </p:spPr>
      </p:sp>
      <p:sp>
        <p:nvSpPr>
          <p:cNvPr id="12" name="Step name"/>
          <p:cNvSpPr txBox="1"/>
          <p:nvPr/>
        </p:nvSpPr>
        <p:spPr>
          <a:xfrm>
            <a:off x="2770632" y="1920240"/>
            <a:ext cx="15087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Whisper</a:t>
            </a:r>
            <a:endParaRPr lang="en-US" sz="1600" dirty="0"/>
          </a:p>
        </p:txBody>
      </p:sp>
      <p:sp>
        <p:nvSpPr>
          <p:cNvPr id="13" name="Step detail"/>
          <p:cNvSpPr txBox="1"/>
          <p:nvPr/>
        </p:nvSpPr>
        <p:spPr>
          <a:xfrm>
            <a:off x="2770632" y="2331720"/>
            <a:ext cx="1508760" cy="640080"/>
          </a:xfrm>
          <a:prstGeom prst="rect">
            <a:avLst/>
          </a:prstGeom>
          <a:noFill/>
          <a:ln/>
        </p:spPr>
        <p:txBody>
          <a:bodyPr wrap="square" lIns="0" tIns="0" rIns="0" bIns="0" rtlCol="0" anchor="t"/>
          <a:lstStyle/>
          <a:p>
            <a:pPr indent="0" marL="0">
              <a:buNone/>
            </a:pPr>
            <a:r>
              <a:rPr lang="en-US" sz="1300" dirty="0">
                <a:solidFill>
                  <a:srgbClr val="E3EEE8"/>
                </a:solidFill>
                <a:latin typeface="Calibri" pitchFamily="34" charset="0"/>
                <a:ea typeface="Calibri" pitchFamily="34" charset="-122"/>
                <a:cs typeface="Calibri" pitchFamily="34" charset="-120"/>
              </a:rPr>
              <a:t>Local speech-to-text</a:t>
            </a:r>
            <a:endParaRPr lang="en-US" sz="1300" dirty="0"/>
          </a:p>
        </p:txBody>
      </p:sp>
      <p:sp>
        <p:nvSpPr>
          <p:cNvPr id="14" name="Flow arrow"/>
          <p:cNvSpPr txBox="1"/>
          <p:nvPr/>
        </p:nvSpPr>
        <p:spPr>
          <a:xfrm>
            <a:off x="4416552" y="2103120"/>
            <a:ext cx="301752" cy="457200"/>
          </a:xfrm>
          <a:prstGeom prst="rect">
            <a:avLst/>
          </a:prstGeom>
          <a:noFill/>
          <a:ln/>
        </p:spPr>
        <p:txBody>
          <a:bodyPr wrap="square" lIns="0" tIns="0" rIns="0" bIns="0" rtlCol="0" anchor="ctr"/>
          <a:lstStyle/>
          <a:p>
            <a:pPr algn="ctr" indent="0" marL="0">
              <a:buNone/>
            </a:pPr>
            <a:r>
              <a:rPr lang="en-US" sz="2800" b="1" dirty="0">
                <a:solidFill>
                  <a:srgbClr val="D4A93C"/>
                </a:solidFill>
                <a:latin typeface="Cambria" pitchFamily="34" charset="0"/>
                <a:ea typeface="Cambria" pitchFamily="34" charset="-122"/>
                <a:cs typeface="Cambria" pitchFamily="34" charset="-120"/>
              </a:rPr>
              <a:t>›</a:t>
            </a:r>
            <a:endParaRPr lang="en-US" sz="2800" dirty="0"/>
          </a:p>
        </p:txBody>
      </p:sp>
      <p:sp>
        <p:nvSpPr>
          <p:cNvPr id="15" name="Pipeline step"/>
          <p:cNvSpPr/>
          <p:nvPr/>
        </p:nvSpPr>
        <p:spPr>
          <a:xfrm>
            <a:off x="4718304" y="1737360"/>
            <a:ext cx="1783080" cy="1371600"/>
          </a:xfrm>
          <a:prstGeom prst="roundRect">
            <a:avLst>
              <a:gd name="adj" fmla="val 5333"/>
            </a:avLst>
          </a:prstGeom>
          <a:solidFill>
            <a:srgbClr val="14513E"/>
          </a:solidFill>
          <a:ln w="12700">
            <a:solidFill>
              <a:srgbClr val="14513E"/>
            </a:solidFill>
            <a:prstDash val="solid"/>
          </a:ln>
        </p:spPr>
      </p:sp>
      <p:sp>
        <p:nvSpPr>
          <p:cNvPr id="16" name="Step name"/>
          <p:cNvSpPr txBox="1"/>
          <p:nvPr/>
        </p:nvSpPr>
        <p:spPr>
          <a:xfrm>
            <a:off x="4855464" y="1920240"/>
            <a:ext cx="15087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Local LLM</a:t>
            </a:r>
            <a:endParaRPr lang="en-US" sz="1600" dirty="0"/>
          </a:p>
        </p:txBody>
      </p:sp>
      <p:sp>
        <p:nvSpPr>
          <p:cNvPr id="17" name="Step detail"/>
          <p:cNvSpPr txBox="1"/>
          <p:nvPr/>
        </p:nvSpPr>
        <p:spPr>
          <a:xfrm>
            <a:off x="4855464" y="2331720"/>
            <a:ext cx="1508760" cy="640080"/>
          </a:xfrm>
          <a:prstGeom prst="rect">
            <a:avLst/>
          </a:prstGeom>
          <a:noFill/>
          <a:ln/>
        </p:spPr>
        <p:txBody>
          <a:bodyPr wrap="square" lIns="0" tIns="0" rIns="0" bIns="0" rtlCol="0" anchor="t"/>
          <a:lstStyle/>
          <a:p>
            <a:pPr indent="0" marL="0">
              <a:buNone/>
            </a:pPr>
            <a:r>
              <a:rPr lang="en-US" sz="1300" dirty="0">
                <a:solidFill>
                  <a:srgbClr val="E3EEE8"/>
                </a:solidFill>
                <a:latin typeface="Calibri" pitchFamily="34" charset="0"/>
                <a:ea typeface="Calibri" pitchFamily="34" charset="-122"/>
                <a:cs typeface="Calibri" pitchFamily="34" charset="-120"/>
              </a:rPr>
              <a:t>Qwen via Ollama drafts a SOAP note</a:t>
            </a:r>
            <a:endParaRPr lang="en-US" sz="1300" dirty="0"/>
          </a:p>
        </p:txBody>
      </p:sp>
      <p:sp>
        <p:nvSpPr>
          <p:cNvPr id="18" name="Flow arrow"/>
          <p:cNvSpPr txBox="1"/>
          <p:nvPr/>
        </p:nvSpPr>
        <p:spPr>
          <a:xfrm>
            <a:off x="6501384" y="2103120"/>
            <a:ext cx="301752" cy="457200"/>
          </a:xfrm>
          <a:prstGeom prst="rect">
            <a:avLst/>
          </a:prstGeom>
          <a:noFill/>
          <a:ln/>
        </p:spPr>
        <p:txBody>
          <a:bodyPr wrap="square" lIns="0" tIns="0" rIns="0" bIns="0" rtlCol="0" anchor="ctr"/>
          <a:lstStyle/>
          <a:p>
            <a:pPr algn="ctr" indent="0" marL="0">
              <a:buNone/>
            </a:pPr>
            <a:r>
              <a:rPr lang="en-US" sz="2800" b="1" dirty="0">
                <a:solidFill>
                  <a:srgbClr val="D4A93C"/>
                </a:solidFill>
                <a:latin typeface="Cambria" pitchFamily="34" charset="0"/>
                <a:ea typeface="Cambria" pitchFamily="34" charset="-122"/>
                <a:cs typeface="Cambria" pitchFamily="34" charset="-120"/>
              </a:rPr>
              <a:t>›</a:t>
            </a:r>
            <a:endParaRPr lang="en-US" sz="2800" dirty="0"/>
          </a:p>
        </p:txBody>
      </p:sp>
      <p:sp>
        <p:nvSpPr>
          <p:cNvPr id="19" name="Pipeline step"/>
          <p:cNvSpPr/>
          <p:nvPr/>
        </p:nvSpPr>
        <p:spPr>
          <a:xfrm>
            <a:off x="6803136" y="1737360"/>
            <a:ext cx="1783080" cy="1371600"/>
          </a:xfrm>
          <a:prstGeom prst="roundRect">
            <a:avLst>
              <a:gd name="adj" fmla="val 5333"/>
            </a:avLst>
          </a:prstGeom>
          <a:solidFill>
            <a:srgbClr val="D4A93C"/>
          </a:solidFill>
          <a:ln w="12700">
            <a:solidFill>
              <a:srgbClr val="D4A93C"/>
            </a:solidFill>
            <a:prstDash val="solid"/>
          </a:ln>
        </p:spPr>
      </p:sp>
      <p:sp>
        <p:nvSpPr>
          <p:cNvPr id="20" name="Step name"/>
          <p:cNvSpPr txBox="1"/>
          <p:nvPr/>
        </p:nvSpPr>
        <p:spPr>
          <a:xfrm>
            <a:off x="6940296" y="1920240"/>
            <a:ext cx="1508760" cy="365760"/>
          </a:xfrm>
          <a:prstGeom prst="rect">
            <a:avLst/>
          </a:prstGeom>
          <a:noFill/>
          <a:ln/>
        </p:spPr>
        <p:txBody>
          <a:bodyPr wrap="square" lIns="0" tIns="0" rIns="0" bIns="0" rtlCol="0" anchor="ctr"/>
          <a:lstStyle/>
          <a:p>
            <a:pPr indent="0" marL="0">
              <a:buNone/>
            </a:pPr>
            <a:r>
              <a:rPr lang="en-US" sz="1600" b="1" dirty="0">
                <a:solidFill>
                  <a:srgbClr val="0B2E24"/>
                </a:solidFill>
                <a:latin typeface="Cambria" pitchFamily="34" charset="0"/>
                <a:ea typeface="Cambria" pitchFamily="34" charset="-122"/>
                <a:cs typeface="Cambria" pitchFamily="34" charset="-120"/>
              </a:rPr>
              <a:t>Clinician review</a:t>
            </a:r>
            <a:endParaRPr lang="en-US" sz="1600" dirty="0"/>
          </a:p>
        </p:txBody>
      </p:sp>
      <p:sp>
        <p:nvSpPr>
          <p:cNvPr id="21" name="Step detail"/>
          <p:cNvSpPr txBox="1"/>
          <p:nvPr/>
        </p:nvSpPr>
        <p:spPr>
          <a:xfrm>
            <a:off x="6940296" y="2331720"/>
            <a:ext cx="1508760" cy="640080"/>
          </a:xfrm>
          <a:prstGeom prst="rect">
            <a:avLst/>
          </a:prstGeom>
          <a:noFill/>
          <a:ln/>
        </p:spPr>
        <p:txBody>
          <a:bodyPr wrap="square" lIns="0" tIns="0" rIns="0" bIns="0" rtlCol="0" anchor="t"/>
          <a:lstStyle/>
          <a:p>
            <a:pPr indent="0" marL="0">
              <a:buNone/>
            </a:pPr>
            <a:r>
              <a:rPr lang="en-US" sz="1300" dirty="0">
                <a:solidFill>
                  <a:srgbClr val="0B2E24"/>
                </a:solidFill>
                <a:latin typeface="Calibri" pitchFamily="34" charset="0"/>
                <a:ea typeface="Calibri" pitchFamily="34" charset="-122"/>
                <a:cs typeface="Calibri" pitchFamily="34" charset="-120"/>
              </a:rPr>
              <a:t>Edit, approve, save to EHR</a:t>
            </a:r>
            <a:endParaRPr lang="en-US" sz="1300" dirty="0"/>
          </a:p>
        </p:txBody>
      </p:sp>
      <p:sp>
        <p:nvSpPr>
          <p:cNvPr id="22" name="Benefit"/>
          <p:cNvSpPr txBox="1"/>
          <p:nvPr/>
        </p:nvSpPr>
        <p:spPr>
          <a:xfrm>
            <a:off x="548640" y="3474720"/>
            <a:ext cx="2468880" cy="320040"/>
          </a:xfrm>
          <a:prstGeom prst="rect">
            <a:avLst/>
          </a:prstGeom>
          <a:noFill/>
          <a:ln/>
        </p:spPr>
        <p:txBody>
          <a:bodyPr wrap="square" lIns="0" tIns="0" rIns="0" bIns="0" rtlCol="0" anchor="ctr"/>
          <a:lstStyle/>
          <a:p>
            <a:pPr indent="0" marL="0">
              <a:buNone/>
            </a:pPr>
            <a:r>
              <a:rPr lang="en-US" sz="1400" b="1" dirty="0">
                <a:solidFill>
                  <a:srgbClr val="D4A93C"/>
                </a:solidFill>
                <a:latin typeface="Cambria" pitchFamily="34" charset="0"/>
                <a:ea typeface="Cambria" pitchFamily="34" charset="-122"/>
                <a:cs typeface="Cambria" pitchFamily="34" charset="-120"/>
              </a:rPr>
              <a:t>No cloud API</a:t>
            </a:r>
            <a:endParaRPr lang="en-US" sz="1400" dirty="0"/>
          </a:p>
        </p:txBody>
      </p:sp>
      <p:sp>
        <p:nvSpPr>
          <p:cNvPr id="23" name="Benefit detail"/>
          <p:cNvSpPr txBox="1"/>
          <p:nvPr/>
        </p:nvSpPr>
        <p:spPr>
          <a:xfrm>
            <a:off x="548640" y="3794760"/>
            <a:ext cx="2468880" cy="320040"/>
          </a:xfrm>
          <a:prstGeom prst="rect">
            <a:avLst/>
          </a:prstGeom>
          <a:noFill/>
          <a:ln/>
        </p:spPr>
        <p:txBody>
          <a:bodyPr wrap="square" lIns="0" tIns="0" rIns="0" bIns="0" rtlCol="0" anchor="ctr"/>
          <a:lstStyle/>
          <a:p>
            <a:pPr indent="0" marL="0">
              <a:buNone/>
            </a:pPr>
            <a:r>
              <a:rPr lang="en-US" sz="1300" dirty="0">
                <a:solidFill>
                  <a:srgbClr val="E3EEE8"/>
                </a:solidFill>
                <a:latin typeface="Calibri" pitchFamily="34" charset="0"/>
                <a:ea typeface="Calibri" pitchFamily="34" charset="-122"/>
                <a:cs typeface="Calibri" pitchFamily="34" charset="-120"/>
              </a:rPr>
              <a:t>no per-call cost</a:t>
            </a:r>
            <a:endParaRPr lang="en-US" sz="1300" dirty="0"/>
          </a:p>
        </p:txBody>
      </p:sp>
      <p:sp>
        <p:nvSpPr>
          <p:cNvPr id="24" name="Benefit"/>
          <p:cNvSpPr txBox="1"/>
          <p:nvPr/>
        </p:nvSpPr>
        <p:spPr>
          <a:xfrm>
            <a:off x="3246120" y="3474720"/>
            <a:ext cx="2468880" cy="320040"/>
          </a:xfrm>
          <a:prstGeom prst="rect">
            <a:avLst/>
          </a:prstGeom>
          <a:noFill/>
          <a:ln/>
        </p:spPr>
        <p:txBody>
          <a:bodyPr wrap="square" lIns="0" tIns="0" rIns="0" bIns="0" rtlCol="0" anchor="ctr"/>
          <a:lstStyle/>
          <a:p>
            <a:pPr indent="0" marL="0">
              <a:buNone/>
            </a:pPr>
            <a:r>
              <a:rPr lang="en-US" sz="1400" b="1" dirty="0">
                <a:solidFill>
                  <a:srgbClr val="D4A93C"/>
                </a:solidFill>
                <a:latin typeface="Cambria" pitchFamily="34" charset="0"/>
                <a:ea typeface="Cambria" pitchFamily="34" charset="-122"/>
                <a:cs typeface="Cambria" pitchFamily="34" charset="-120"/>
              </a:rPr>
              <a:t>Data stays on-site</a:t>
            </a:r>
            <a:endParaRPr lang="en-US" sz="1400" dirty="0"/>
          </a:p>
        </p:txBody>
      </p:sp>
      <p:sp>
        <p:nvSpPr>
          <p:cNvPr id="25" name="Benefit detail"/>
          <p:cNvSpPr txBox="1"/>
          <p:nvPr/>
        </p:nvSpPr>
        <p:spPr>
          <a:xfrm>
            <a:off x="3246120" y="3794760"/>
            <a:ext cx="2468880" cy="320040"/>
          </a:xfrm>
          <a:prstGeom prst="rect">
            <a:avLst/>
          </a:prstGeom>
          <a:noFill/>
          <a:ln/>
        </p:spPr>
        <p:txBody>
          <a:bodyPr wrap="square" lIns="0" tIns="0" rIns="0" bIns="0" rtlCol="0" anchor="ctr"/>
          <a:lstStyle/>
          <a:p>
            <a:pPr indent="0" marL="0">
              <a:buNone/>
            </a:pPr>
            <a:r>
              <a:rPr lang="en-US" sz="1300" dirty="0">
                <a:solidFill>
                  <a:srgbClr val="E3EEE8"/>
                </a:solidFill>
                <a:latin typeface="Calibri" pitchFamily="34" charset="0"/>
                <a:ea typeface="Calibri" pitchFamily="34" charset="-122"/>
                <a:cs typeface="Calibri" pitchFamily="34" charset="-120"/>
              </a:rPr>
              <a:t>privacy by design</a:t>
            </a:r>
            <a:endParaRPr lang="en-US" sz="1300" dirty="0"/>
          </a:p>
        </p:txBody>
      </p:sp>
      <p:sp>
        <p:nvSpPr>
          <p:cNvPr id="26" name="Benefit"/>
          <p:cNvSpPr txBox="1"/>
          <p:nvPr/>
        </p:nvSpPr>
        <p:spPr>
          <a:xfrm>
            <a:off x="5943600" y="3474720"/>
            <a:ext cx="2468880" cy="320040"/>
          </a:xfrm>
          <a:prstGeom prst="rect">
            <a:avLst/>
          </a:prstGeom>
          <a:noFill/>
          <a:ln/>
        </p:spPr>
        <p:txBody>
          <a:bodyPr wrap="square" lIns="0" tIns="0" rIns="0" bIns="0" rtlCol="0" anchor="ctr"/>
          <a:lstStyle/>
          <a:p>
            <a:pPr indent="0" marL="0">
              <a:buNone/>
            </a:pPr>
            <a:r>
              <a:rPr lang="en-US" sz="1400" b="1" dirty="0">
                <a:solidFill>
                  <a:srgbClr val="D4A93C"/>
                </a:solidFill>
                <a:latin typeface="Cambria" pitchFamily="34" charset="0"/>
                <a:ea typeface="Cambria" pitchFamily="34" charset="-122"/>
                <a:cs typeface="Cambria" pitchFamily="34" charset="-120"/>
              </a:rPr>
              <a:t>Clinician in control</a:t>
            </a:r>
            <a:endParaRPr lang="en-US" sz="1400" dirty="0"/>
          </a:p>
        </p:txBody>
      </p:sp>
      <p:sp>
        <p:nvSpPr>
          <p:cNvPr id="27" name="Benefit detail"/>
          <p:cNvSpPr txBox="1"/>
          <p:nvPr/>
        </p:nvSpPr>
        <p:spPr>
          <a:xfrm>
            <a:off x="5943600" y="3794760"/>
            <a:ext cx="2468880" cy="320040"/>
          </a:xfrm>
          <a:prstGeom prst="rect">
            <a:avLst/>
          </a:prstGeom>
          <a:noFill/>
          <a:ln/>
        </p:spPr>
        <p:txBody>
          <a:bodyPr wrap="square" lIns="0" tIns="0" rIns="0" bIns="0" rtlCol="0" anchor="ctr"/>
          <a:lstStyle/>
          <a:p>
            <a:pPr indent="0" marL="0">
              <a:buNone/>
            </a:pPr>
            <a:r>
              <a:rPr lang="en-US" sz="1300" dirty="0">
                <a:solidFill>
                  <a:srgbClr val="E3EEE8"/>
                </a:solidFill>
                <a:latin typeface="Calibri" pitchFamily="34" charset="0"/>
                <a:ea typeface="Calibri" pitchFamily="34" charset="-122"/>
                <a:cs typeface="Calibri" pitchFamily="34" charset="-120"/>
              </a:rPr>
              <a:t>draft, never final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3E8E6E"/>
                </a:solidFill>
                <a:latin typeface="Calibri" pitchFamily="34" charset="0"/>
                <a:ea typeface="Calibri" pitchFamily="34" charset="-122"/>
                <a:cs typeface="Calibri" pitchFamily="34" charset="-120"/>
              </a:rPr>
              <a:t>PART 2  ·  RELIABILITY AND EVIDENCE</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5B6B64"/>
                </a:solidFill>
                <a:latin typeface="Calibri" pitchFamily="34" charset="0"/>
                <a:ea typeface="Calibri" pitchFamily="34" charset="-122"/>
                <a:cs typeface="Calibri" pitchFamily="34" charset="-120"/>
              </a:rPr>
              <a:t>09 / 10</a:t>
            </a:r>
            <a:endParaRPr lang="en-US" sz="1000" dirty="0"/>
          </a:p>
        </p:txBody>
      </p:sp>
      <p:sp>
        <p:nvSpPr>
          <p:cNvPr id="6" name="Title"/>
          <p:cNvSpPr txBox="1"/>
          <p:nvPr/>
        </p:nvSpPr>
        <p:spPr>
          <a:xfrm>
            <a:off x="548640" y="685800"/>
            <a:ext cx="8046720" cy="822960"/>
          </a:xfrm>
          <a:prstGeom prst="rect">
            <a:avLst/>
          </a:prstGeom>
          <a:noFill/>
          <a:ln/>
        </p:spPr>
        <p:txBody>
          <a:bodyPr wrap="square" lIns="0" tIns="0" rIns="0" bIns="0" rtlCol="0" anchor="t"/>
          <a:lstStyle/>
          <a:p>
            <a:pPr indent="0" marL="0">
              <a:buNone/>
            </a:pPr>
            <a:r>
              <a:rPr lang="en-US" sz="3200" b="1" dirty="0">
                <a:solidFill>
                  <a:srgbClr val="0B2E24"/>
                </a:solidFill>
                <a:latin typeface="Cambria" pitchFamily="34" charset="0"/>
                <a:ea typeface="Cambria" pitchFamily="34" charset="-122"/>
                <a:cs typeface="Cambria" pitchFamily="34" charset="-120"/>
              </a:rPr>
              <a:t>Engineered to be trusted</a:t>
            </a:r>
            <a:endParaRPr lang="en-US" sz="3200" dirty="0"/>
          </a:p>
        </p:txBody>
      </p:sp>
      <p:graphicFrame>
        <p:nvGraphicFramePr>
          <p:cNvPr id="7" name="Chart 0" descr=""/>
          <p:cNvGraphicFramePr/>
          <p:nvPr/>
        </p:nvGraphicFramePr>
        <p:xfrm>
          <a:off x="548640" y="137160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8" name="Stat card"/>
          <p:cNvSpPr/>
          <p:nvPr/>
        </p:nvSpPr>
        <p:spPr>
          <a:xfrm>
            <a:off x="5669280" y="1371600"/>
            <a:ext cx="2926080" cy="1097280"/>
          </a:xfrm>
          <a:prstGeom prst="roundRect">
            <a:avLst>
              <a:gd name="adj" fmla="val 6667"/>
            </a:avLst>
          </a:prstGeom>
          <a:solidFill>
            <a:srgbClr val="0B2E24"/>
          </a:solidFill>
          <a:ln w="12700">
            <a:solidFill>
              <a:srgbClr val="0B2E24"/>
            </a:solidFill>
            <a:prstDash val="solid"/>
          </a:ln>
        </p:spPr>
      </p:sp>
      <p:sp>
        <p:nvSpPr>
          <p:cNvPr id="9" name="Stat number"/>
          <p:cNvSpPr txBox="1"/>
          <p:nvPr/>
        </p:nvSpPr>
        <p:spPr>
          <a:xfrm>
            <a:off x="5897880" y="1417320"/>
            <a:ext cx="1097280" cy="1005840"/>
          </a:xfrm>
          <a:prstGeom prst="rect">
            <a:avLst/>
          </a:prstGeom>
          <a:noFill/>
          <a:ln/>
        </p:spPr>
        <p:txBody>
          <a:bodyPr wrap="square" lIns="0" tIns="0" rIns="0" bIns="0" rtlCol="0" anchor="ctr"/>
          <a:lstStyle/>
          <a:p>
            <a:pPr indent="0" marL="0">
              <a:buNone/>
            </a:pPr>
            <a:r>
              <a:rPr lang="en-US" sz="4800" b="1" dirty="0">
                <a:solidFill>
                  <a:srgbClr val="D4A93C"/>
                </a:solidFill>
                <a:latin typeface="Cambria" pitchFamily="34" charset="0"/>
                <a:ea typeface="Cambria" pitchFamily="34" charset="-122"/>
                <a:cs typeface="Cambria" pitchFamily="34" charset="-120"/>
              </a:rPr>
              <a:t>36</a:t>
            </a:r>
            <a:endParaRPr lang="en-US" sz="4800" dirty="0"/>
          </a:p>
        </p:txBody>
      </p:sp>
      <p:sp>
        <p:nvSpPr>
          <p:cNvPr id="10" name="Stat label"/>
          <p:cNvSpPr txBox="1"/>
          <p:nvPr/>
        </p:nvSpPr>
        <p:spPr>
          <a:xfrm>
            <a:off x="6995160" y="1417320"/>
            <a:ext cx="1417320" cy="1005840"/>
          </a:xfrm>
          <a:prstGeom prst="rect">
            <a:avLst/>
          </a:prstGeom>
          <a:noFill/>
          <a:ln/>
        </p:spPr>
        <p:txBody>
          <a:bodyPr wrap="square" lIns="0" tIns="0" rIns="0" bIns="0" rtlCol="0" anchor="ctr"/>
          <a:lstStyle/>
          <a:p>
            <a:pPr indent="0" marL="0">
              <a:buNone/>
            </a:pPr>
            <a:r>
              <a:rPr lang="en-US" sz="1200" dirty="0">
                <a:solidFill>
                  <a:srgbClr val="E3EEE8"/>
                </a:solidFill>
                <a:latin typeface="Calibri" pitchFamily="34" charset="0"/>
                <a:ea typeface="Calibri" pitchFamily="34" charset="-122"/>
                <a:cs typeface="Calibri" pitchFamily="34" charset="-120"/>
              </a:rPr>
              <a:t>automated tests covering flow, queue, scribe and security</a:t>
            </a:r>
            <a:endParaRPr lang="en-US" sz="1200" dirty="0"/>
          </a:p>
        </p:txBody>
      </p:sp>
      <p:sp>
        <p:nvSpPr>
          <p:cNvPr id="11" name="Safeguards card"/>
          <p:cNvSpPr/>
          <p:nvPr/>
        </p:nvSpPr>
        <p:spPr>
          <a:xfrm>
            <a:off x="5669280" y="2651760"/>
            <a:ext cx="2926080" cy="1920240"/>
          </a:xfrm>
          <a:prstGeom prst="roundRect">
            <a:avLst>
              <a:gd name="adj" fmla="val 3810"/>
            </a:avLst>
          </a:prstGeom>
          <a:solidFill>
            <a:srgbClr val="EEF3F0"/>
          </a:solidFill>
          <a:ln w="12700">
            <a:solidFill>
              <a:srgbClr val="EEF3F0"/>
            </a:solidFill>
            <a:prstDash val="solid"/>
          </a:ln>
        </p:spPr>
      </p:sp>
      <p:sp>
        <p:nvSpPr>
          <p:cNvPr id="12" name="Card heading"/>
          <p:cNvSpPr txBox="1"/>
          <p:nvPr/>
        </p:nvSpPr>
        <p:spPr>
          <a:xfrm>
            <a:off x="5897880" y="2743200"/>
            <a:ext cx="2468880" cy="320040"/>
          </a:xfrm>
          <a:prstGeom prst="rect">
            <a:avLst/>
          </a:prstGeom>
          <a:noFill/>
          <a:ln/>
        </p:spPr>
        <p:txBody>
          <a:bodyPr wrap="square" lIns="0" tIns="0" rIns="0" bIns="0" rtlCol="0" anchor="ctr"/>
          <a:lstStyle/>
          <a:p>
            <a:pPr indent="0" marL="0">
              <a:buNone/>
            </a:pPr>
            <a:r>
              <a:rPr lang="en-US" sz="1500" b="1" dirty="0">
                <a:solidFill>
                  <a:srgbClr val="0B2E24"/>
                </a:solidFill>
                <a:latin typeface="Cambria" pitchFamily="34" charset="0"/>
                <a:ea typeface="Cambria" pitchFamily="34" charset="-122"/>
                <a:cs typeface="Cambria" pitchFamily="34" charset="-120"/>
              </a:rPr>
              <a:t>Safeguards built in</a:t>
            </a:r>
            <a:endParaRPr lang="en-US" sz="1500" dirty="0"/>
          </a:p>
        </p:txBody>
      </p:sp>
      <p:sp>
        <p:nvSpPr>
          <p:cNvPr id="13" name="Body"/>
          <p:cNvSpPr txBox="1"/>
          <p:nvPr/>
        </p:nvSpPr>
        <p:spPr>
          <a:xfrm>
            <a:off x="5897880" y="3108960"/>
            <a:ext cx="2560320" cy="14173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6241F"/>
                </a:solidFill>
                <a:latin typeface="Calibri" pitchFamily="34" charset="0"/>
                <a:ea typeface="Calibri" pitchFamily="34" charset="-122"/>
                <a:cs typeface="Calibri" pitchFamily="34" charset="-120"/>
              </a:rPr>
              <a:t>Role-based access</a:t>
            </a:r>
            <a:endParaRPr lang="en-US" sz="1200" dirty="0"/>
          </a:p>
          <a:p>
            <a:pPr marL="342900" indent="-342900">
              <a:spcAft>
                <a:spcPts val="400"/>
              </a:spcAft>
              <a:buSzPct val="100000"/>
              <a:buChar char="•"/>
            </a:pPr>
            <a:r>
              <a:rPr lang="en-US" sz="1200" dirty="0">
                <a:solidFill>
                  <a:srgbClr val="16241F"/>
                </a:solidFill>
                <a:latin typeface="Calibri" pitchFamily="34" charset="0"/>
                <a:ea typeface="Calibri" pitchFamily="34" charset="-122"/>
                <a:cs typeface="Calibri" pitchFamily="34" charset="-120"/>
              </a:rPr>
              <a:t>Account lockout after repeated failures</a:t>
            </a:r>
            <a:endParaRPr lang="en-US" sz="1200" dirty="0"/>
          </a:p>
          <a:p>
            <a:pPr marL="342900" indent="-342900">
              <a:spcAft>
                <a:spcPts val="400"/>
              </a:spcAft>
              <a:buSzPct val="100000"/>
              <a:buChar char="•"/>
            </a:pPr>
            <a:r>
              <a:rPr lang="en-US" sz="1200" dirty="0">
                <a:solidFill>
                  <a:srgbClr val="16241F"/>
                </a:solidFill>
                <a:latin typeface="Calibri" pitchFamily="34" charset="0"/>
                <a:ea typeface="Calibri" pitchFamily="34" charset="-122"/>
                <a:cs typeface="Calibri" pitchFamily="34" charset="-120"/>
              </a:rPr>
              <a:t>Refuses weak secrets in production</a:t>
            </a:r>
            <a:endParaRPr lang="en-US" sz="1200" dirty="0"/>
          </a:p>
          <a:p>
            <a:pPr marL="342900" indent="-342900">
              <a:spcAft>
                <a:spcPts val="400"/>
              </a:spcAft>
              <a:buSzPct val="100000"/>
              <a:buChar char="•"/>
            </a:pPr>
            <a:r>
              <a:rPr lang="en-US" sz="1200" dirty="0">
                <a:solidFill>
                  <a:srgbClr val="16241F"/>
                </a:solidFill>
                <a:latin typeface="Calibri" pitchFamily="34" charset="0"/>
                <a:ea typeface="Calibri" pitchFamily="34" charset="-122"/>
                <a:cs typeface="Calibri" pitchFamily="34" charset="-120"/>
              </a:rPr>
              <a:t>Versioned database migrations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E24"/>
        </a:solidFill>
      </p:bgPr>
    </p:bg>
    <p:spTree>
      <p:nvGrpSpPr>
        <p:cNvPr id="1" name=""/>
        <p:cNvGrpSpPr/>
        <p:nvPr/>
      </p:nvGrpSpPr>
      <p:grpSpPr>
        <a:xfrm>
          <a:off x="0" y="0"/>
          <a:ext cx="0" cy="0"/>
          <a:chOff x="0" y="0"/>
          <a:chExt cx="0" cy="0"/>
        </a:xfrm>
      </p:grpSpPr>
      <p:sp>
        <p:nvSpPr>
          <p:cNvPr id="2" name="Kicker"/>
          <p:cNvSpPr txBox="1"/>
          <p:nvPr/>
        </p:nvSpPr>
        <p:spPr>
          <a:xfrm>
            <a:off x="548640" y="347472"/>
            <a:ext cx="5486400" cy="274320"/>
          </a:xfrm>
          <a:prstGeom prst="rect">
            <a:avLst/>
          </a:prstGeom>
          <a:noFill/>
          <a:ln/>
        </p:spPr>
        <p:txBody>
          <a:bodyPr wrap="square" lIns="0" tIns="0" rIns="0" bIns="0" rtlCol="0" anchor="ctr"/>
          <a:lstStyle/>
          <a:p>
            <a:pPr indent="0" marL="0">
              <a:buNone/>
            </a:pPr>
            <a:r>
              <a:rPr lang="en-US" sz="1100" b="1" spc="300" kern="0" dirty="0">
                <a:solidFill>
                  <a:srgbClr val="D4A93C"/>
                </a:solidFill>
                <a:latin typeface="Calibri" pitchFamily="34" charset="0"/>
                <a:ea typeface="Calibri" pitchFamily="34" charset="-122"/>
                <a:cs typeface="Calibri" pitchFamily="34" charset="-120"/>
              </a:rPr>
              <a:t>CONCLUSION</a:t>
            </a:r>
            <a:endParaRPr lang="en-US" sz="1100" dirty="0"/>
          </a:p>
        </p:txBody>
      </p:sp>
      <p:sp>
        <p:nvSpPr>
          <p:cNvPr id="3" name="Footer"/>
          <p:cNvSpPr txBox="1"/>
          <p:nvPr/>
        </p:nvSpPr>
        <p:spPr>
          <a:xfrm>
            <a:off x="548640" y="4754880"/>
            <a:ext cx="2743200" cy="228600"/>
          </a:xfrm>
          <a:prstGeom prst="rect">
            <a:avLst/>
          </a:prstGeom>
          <a:noFill/>
          <a:ln/>
        </p:spPr>
        <p:txBody>
          <a:bodyPr wrap="square" lIns="0" tIns="0" rIns="0" bIns="0" rtlCol="0" anchor="ctr"/>
          <a:lstStyle/>
          <a:p>
            <a:pPr indent="0" marL="0">
              <a:buNone/>
            </a:pPr>
            <a:r>
              <a:rPr lang="en-US" sz="1000" dirty="0">
                <a:solidFill>
                  <a:srgbClr val="9CC5B2"/>
                </a:solidFill>
                <a:latin typeface="Calibri" pitchFamily="34" charset="0"/>
                <a:ea typeface="Calibri" pitchFamily="34" charset="-122"/>
                <a:cs typeface="Calibri" pitchFamily="34" charset="-120"/>
              </a:rPr>
              <a:t>AraCare Health OS</a:t>
            </a:r>
            <a:endParaRPr lang="en-US" sz="1000" dirty="0"/>
          </a:p>
        </p:txBody>
      </p:sp>
      <p:sp>
        <p:nvSpPr>
          <p:cNvPr id="4" name="Slide number"/>
          <p:cNvSpPr txBox="1"/>
          <p:nvPr/>
        </p:nvSpPr>
        <p:spPr>
          <a:xfrm>
            <a:off x="7498080" y="4754880"/>
            <a:ext cx="1097280" cy="228600"/>
          </a:xfrm>
          <a:prstGeom prst="rect">
            <a:avLst/>
          </a:prstGeom>
          <a:noFill/>
          <a:ln/>
        </p:spPr>
        <p:txBody>
          <a:bodyPr wrap="square" lIns="0" tIns="0" rIns="0" bIns="0" rtlCol="0" anchor="ctr"/>
          <a:lstStyle/>
          <a:p>
            <a:pPr algn="r" indent="0" marL="0">
              <a:buNone/>
            </a:pPr>
            <a:r>
              <a:rPr lang="en-US" sz="1000" dirty="0">
                <a:solidFill>
                  <a:srgbClr val="9CC5B2"/>
                </a:solidFill>
                <a:latin typeface="Calibri" pitchFamily="34" charset="0"/>
                <a:ea typeface="Calibri" pitchFamily="34" charset="-122"/>
                <a:cs typeface="Calibri" pitchFamily="34" charset="-120"/>
              </a:rPr>
              <a:t>10 / 10</a:t>
            </a:r>
            <a:endParaRPr lang="en-US" sz="1000" dirty="0"/>
          </a:p>
        </p:txBody>
      </p:sp>
      <p:sp>
        <p:nvSpPr>
          <p:cNvPr id="6" name="Title"/>
          <p:cNvSpPr txBox="1"/>
          <p:nvPr/>
        </p:nvSpPr>
        <p:spPr>
          <a:xfrm>
            <a:off x="548640" y="685800"/>
            <a:ext cx="804672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Her next visit looks different</a:t>
            </a:r>
            <a:endParaRPr lang="en-US" sz="3400" dirty="0"/>
          </a:p>
        </p:txBody>
      </p:sp>
      <p:sp>
        <p:nvSpPr>
          <p:cNvPr id="7" name="Check badge"/>
          <p:cNvSpPr/>
          <p:nvPr/>
        </p:nvSpPr>
        <p:spPr>
          <a:xfrm>
            <a:off x="548640" y="1645920"/>
            <a:ext cx="365760" cy="365760"/>
          </a:xfrm>
          <a:prstGeom prst="ellipse">
            <a:avLst/>
          </a:prstGeom>
          <a:solidFill>
            <a:srgbClr val="D4A93C"/>
          </a:solidFill>
          <a:ln w="12700">
            <a:solidFill>
              <a:srgbClr val="D4A93C"/>
            </a:solidFill>
            <a:prstDash val="solid"/>
          </a:ln>
        </p:spPr>
      </p:sp>
      <p:sp>
        <p:nvSpPr>
          <p:cNvPr id="8" name="Check mark"/>
          <p:cNvSpPr txBox="1"/>
          <p:nvPr/>
        </p:nvSpPr>
        <p:spPr>
          <a:xfrm>
            <a:off x="548640" y="1645920"/>
            <a:ext cx="365760" cy="365760"/>
          </a:xfrm>
          <a:prstGeom prst="rect">
            <a:avLst/>
          </a:prstGeom>
          <a:noFill/>
          <a:ln/>
        </p:spPr>
        <p:txBody>
          <a:bodyPr wrap="square" lIns="0" tIns="0" rIns="0" bIns="0" rtlCol="0" anchor="ctr"/>
          <a:lstStyle/>
          <a:p>
            <a:pPr algn="ctr" indent="0" marL="0">
              <a:buNone/>
            </a:pPr>
            <a:r>
              <a:rPr lang="en-US" sz="1400" b="1" dirty="0">
                <a:solidFill>
                  <a:srgbClr val="0B2E24"/>
                </a:solidFill>
                <a:latin typeface="Calibri" pitchFamily="34" charset="0"/>
                <a:ea typeface="Calibri" pitchFamily="34" charset="-122"/>
                <a:cs typeface="Calibri" pitchFamily="34" charset="-120"/>
              </a:rPr>
              <a:t>✓</a:t>
            </a:r>
            <a:endParaRPr lang="en-US" sz="1400" dirty="0"/>
          </a:p>
        </p:txBody>
      </p:sp>
      <p:sp>
        <p:nvSpPr>
          <p:cNvPr id="9" name="Outcome"/>
          <p:cNvSpPr txBox="1"/>
          <p:nvPr/>
        </p:nvSpPr>
        <p:spPr>
          <a:xfrm>
            <a:off x="1097280" y="1600200"/>
            <a:ext cx="42976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Registered once</a:t>
            </a:r>
            <a:pPr indent="0" marL="0">
              <a:buNone/>
            </a:pPr>
            <a:r>
              <a:rPr lang="en-US" sz="1300" dirty="0">
                <a:solidFill>
                  <a:srgbClr val="9CC5B2"/>
                </a:solidFill>
                <a:latin typeface="Calibri" pitchFamily="34" charset="0"/>
                <a:ea typeface="Calibri" pitchFamily="34" charset="-122"/>
                <a:cs typeface="Calibri" pitchFamily="34" charset="-120"/>
              </a:rPr>
              <a:t>   identity on record</a:t>
            </a:r>
            <a:endParaRPr lang="en-US" sz="1600" dirty="0"/>
          </a:p>
        </p:txBody>
      </p:sp>
      <p:sp>
        <p:nvSpPr>
          <p:cNvPr id="10" name="Check badge"/>
          <p:cNvSpPr/>
          <p:nvPr/>
        </p:nvSpPr>
        <p:spPr>
          <a:xfrm>
            <a:off x="548640" y="2267712"/>
            <a:ext cx="365760" cy="365760"/>
          </a:xfrm>
          <a:prstGeom prst="ellipse">
            <a:avLst/>
          </a:prstGeom>
          <a:solidFill>
            <a:srgbClr val="D4A93C"/>
          </a:solidFill>
          <a:ln w="12700">
            <a:solidFill>
              <a:srgbClr val="D4A93C"/>
            </a:solidFill>
            <a:prstDash val="solid"/>
          </a:ln>
        </p:spPr>
      </p:sp>
      <p:sp>
        <p:nvSpPr>
          <p:cNvPr id="11" name="Check mark"/>
          <p:cNvSpPr txBox="1"/>
          <p:nvPr/>
        </p:nvSpPr>
        <p:spPr>
          <a:xfrm>
            <a:off x="548640" y="2267712"/>
            <a:ext cx="365760" cy="365760"/>
          </a:xfrm>
          <a:prstGeom prst="rect">
            <a:avLst/>
          </a:prstGeom>
          <a:noFill/>
          <a:ln/>
        </p:spPr>
        <p:txBody>
          <a:bodyPr wrap="square" lIns="0" tIns="0" rIns="0" bIns="0" rtlCol="0" anchor="ctr"/>
          <a:lstStyle/>
          <a:p>
            <a:pPr algn="ctr" indent="0" marL="0">
              <a:buNone/>
            </a:pPr>
            <a:r>
              <a:rPr lang="en-US" sz="1400" b="1" dirty="0">
                <a:solidFill>
                  <a:srgbClr val="0B2E24"/>
                </a:solidFill>
                <a:latin typeface="Calibri" pitchFamily="34" charset="0"/>
                <a:ea typeface="Calibri" pitchFamily="34" charset="-122"/>
                <a:cs typeface="Calibri" pitchFamily="34" charset="-120"/>
              </a:rPr>
              <a:t>✓</a:t>
            </a:r>
            <a:endParaRPr lang="en-US" sz="1400" dirty="0"/>
          </a:p>
        </p:txBody>
      </p:sp>
      <p:sp>
        <p:nvSpPr>
          <p:cNvPr id="12" name="Outcome"/>
          <p:cNvSpPr txBox="1"/>
          <p:nvPr/>
        </p:nvSpPr>
        <p:spPr>
          <a:xfrm>
            <a:off x="1097280" y="2221992"/>
            <a:ext cx="42976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Position known</a:t>
            </a:r>
            <a:pPr indent="0" marL="0">
              <a:buNone/>
            </a:pPr>
            <a:r>
              <a:rPr lang="en-US" sz="1300" dirty="0">
                <a:solidFill>
                  <a:srgbClr val="9CC5B2"/>
                </a:solidFill>
                <a:latin typeface="Calibri" pitchFamily="34" charset="0"/>
                <a:ea typeface="Calibri" pitchFamily="34" charset="-122"/>
                <a:cs typeface="Calibri" pitchFamily="34" charset="-120"/>
              </a:rPr>
              <a:t>   an ordered, visible queue</a:t>
            </a:r>
            <a:endParaRPr lang="en-US" sz="1600" dirty="0"/>
          </a:p>
        </p:txBody>
      </p:sp>
      <p:sp>
        <p:nvSpPr>
          <p:cNvPr id="13" name="Check badge"/>
          <p:cNvSpPr/>
          <p:nvPr/>
        </p:nvSpPr>
        <p:spPr>
          <a:xfrm>
            <a:off x="548640" y="2889504"/>
            <a:ext cx="365760" cy="365760"/>
          </a:xfrm>
          <a:prstGeom prst="ellipse">
            <a:avLst/>
          </a:prstGeom>
          <a:solidFill>
            <a:srgbClr val="D4A93C"/>
          </a:solidFill>
          <a:ln w="12700">
            <a:solidFill>
              <a:srgbClr val="D4A93C"/>
            </a:solidFill>
            <a:prstDash val="solid"/>
          </a:ln>
        </p:spPr>
      </p:sp>
      <p:sp>
        <p:nvSpPr>
          <p:cNvPr id="14" name="Check mark"/>
          <p:cNvSpPr txBox="1"/>
          <p:nvPr/>
        </p:nvSpPr>
        <p:spPr>
          <a:xfrm>
            <a:off x="548640" y="2889504"/>
            <a:ext cx="365760" cy="365760"/>
          </a:xfrm>
          <a:prstGeom prst="rect">
            <a:avLst/>
          </a:prstGeom>
          <a:noFill/>
          <a:ln/>
        </p:spPr>
        <p:txBody>
          <a:bodyPr wrap="square" lIns="0" tIns="0" rIns="0" bIns="0" rtlCol="0" anchor="ctr"/>
          <a:lstStyle/>
          <a:p>
            <a:pPr algn="ctr" indent="0" marL="0">
              <a:buNone/>
            </a:pPr>
            <a:r>
              <a:rPr lang="en-US" sz="1400" b="1" dirty="0">
                <a:solidFill>
                  <a:srgbClr val="0B2E24"/>
                </a:solidFill>
                <a:latin typeface="Calibri" pitchFamily="34" charset="0"/>
                <a:ea typeface="Calibri" pitchFamily="34" charset="-122"/>
                <a:cs typeface="Calibri" pitchFamily="34" charset="-120"/>
              </a:rPr>
              <a:t>✓</a:t>
            </a:r>
            <a:endParaRPr lang="en-US" sz="1400" dirty="0"/>
          </a:p>
        </p:txBody>
      </p:sp>
      <p:sp>
        <p:nvSpPr>
          <p:cNvPr id="15" name="Outcome"/>
          <p:cNvSpPr txBox="1"/>
          <p:nvPr/>
        </p:nvSpPr>
        <p:spPr>
          <a:xfrm>
            <a:off x="1097280" y="2843784"/>
            <a:ext cx="42976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History on screen</a:t>
            </a:r>
            <a:pPr indent="0" marL="0">
              <a:buNone/>
            </a:pPr>
            <a:r>
              <a:rPr lang="en-US" sz="1300" dirty="0">
                <a:solidFill>
                  <a:srgbClr val="9CC5B2"/>
                </a:solidFill>
                <a:latin typeface="Calibri" pitchFamily="34" charset="0"/>
                <a:ea typeface="Calibri" pitchFamily="34" charset="-122"/>
                <a:cs typeface="Calibri" pitchFamily="34" charset="-120"/>
              </a:rPr>
              <a:t>   at the point of care</a:t>
            </a:r>
            <a:endParaRPr lang="en-US" sz="1600" dirty="0"/>
          </a:p>
        </p:txBody>
      </p:sp>
      <p:sp>
        <p:nvSpPr>
          <p:cNvPr id="16" name="Check badge"/>
          <p:cNvSpPr/>
          <p:nvPr/>
        </p:nvSpPr>
        <p:spPr>
          <a:xfrm>
            <a:off x="548640" y="3511296"/>
            <a:ext cx="365760" cy="365760"/>
          </a:xfrm>
          <a:prstGeom prst="ellipse">
            <a:avLst/>
          </a:prstGeom>
          <a:solidFill>
            <a:srgbClr val="D4A93C"/>
          </a:solidFill>
          <a:ln w="12700">
            <a:solidFill>
              <a:srgbClr val="D4A93C"/>
            </a:solidFill>
            <a:prstDash val="solid"/>
          </a:ln>
        </p:spPr>
      </p:sp>
      <p:sp>
        <p:nvSpPr>
          <p:cNvPr id="17" name="Check mark"/>
          <p:cNvSpPr txBox="1"/>
          <p:nvPr/>
        </p:nvSpPr>
        <p:spPr>
          <a:xfrm>
            <a:off x="548640" y="3511296"/>
            <a:ext cx="365760" cy="365760"/>
          </a:xfrm>
          <a:prstGeom prst="rect">
            <a:avLst/>
          </a:prstGeom>
          <a:noFill/>
          <a:ln/>
        </p:spPr>
        <p:txBody>
          <a:bodyPr wrap="square" lIns="0" tIns="0" rIns="0" bIns="0" rtlCol="0" anchor="ctr"/>
          <a:lstStyle/>
          <a:p>
            <a:pPr algn="ctr" indent="0" marL="0">
              <a:buNone/>
            </a:pPr>
            <a:r>
              <a:rPr lang="en-US" sz="1400" b="1" dirty="0">
                <a:solidFill>
                  <a:srgbClr val="0B2E24"/>
                </a:solidFill>
                <a:latin typeface="Calibri" pitchFamily="34" charset="0"/>
                <a:ea typeface="Calibri" pitchFamily="34" charset="-122"/>
                <a:cs typeface="Calibri" pitchFamily="34" charset="-120"/>
              </a:rPr>
              <a:t>✓</a:t>
            </a:r>
            <a:endParaRPr lang="en-US" sz="1400" dirty="0"/>
          </a:p>
        </p:txBody>
      </p:sp>
      <p:sp>
        <p:nvSpPr>
          <p:cNvPr id="18" name="Outcome"/>
          <p:cNvSpPr txBox="1"/>
          <p:nvPr/>
        </p:nvSpPr>
        <p:spPr>
          <a:xfrm>
            <a:off x="1097280" y="3465576"/>
            <a:ext cx="42976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Doctor listens</a:t>
            </a:r>
            <a:pPr indent="0" marL="0">
              <a:buNone/>
            </a:pPr>
            <a:r>
              <a:rPr lang="en-US" sz="1300" dirty="0">
                <a:solidFill>
                  <a:srgbClr val="9CC5B2"/>
                </a:solidFill>
                <a:latin typeface="Calibri" pitchFamily="34" charset="0"/>
                <a:ea typeface="Calibri" pitchFamily="34" charset="-122"/>
                <a:cs typeface="Calibri" pitchFamily="34" charset="-120"/>
              </a:rPr>
              <a:t>   the scribe drafts the note</a:t>
            </a:r>
            <a:endParaRPr lang="en-US" sz="1600" dirty="0"/>
          </a:p>
        </p:txBody>
      </p:sp>
      <p:sp>
        <p:nvSpPr>
          <p:cNvPr id="19" name="Roadmap"/>
          <p:cNvSpPr txBox="1"/>
          <p:nvPr/>
        </p:nvSpPr>
        <p:spPr>
          <a:xfrm>
            <a:off x="548640" y="4160520"/>
            <a:ext cx="4572000" cy="274320"/>
          </a:xfrm>
          <a:prstGeom prst="rect">
            <a:avLst/>
          </a:prstGeom>
          <a:noFill/>
          <a:ln/>
        </p:spPr>
        <p:txBody>
          <a:bodyPr wrap="square" lIns="0" tIns="0" rIns="0" bIns="0" rtlCol="0" anchor="ctr"/>
          <a:lstStyle/>
          <a:p>
            <a:pPr indent="0" marL="0">
              <a:buNone/>
            </a:pPr>
            <a:r>
              <a:rPr lang="en-US" sz="1200" i="1" dirty="0">
                <a:solidFill>
                  <a:srgbClr val="9CC5B2"/>
                </a:solidFill>
                <a:latin typeface="Calibri" pitchFamily="34" charset="0"/>
                <a:ea typeface="Calibri" pitchFamily="34" charset="-122"/>
                <a:cs typeface="Calibri" pitchFamily="34" charset="-120"/>
              </a:rPr>
              <a:t>Next:  billing  ·  pharmacy and inventory  ·  cloud sync</a:t>
            </a:r>
            <a:endParaRPr lang="en-US" sz="1200" dirty="0"/>
          </a:p>
        </p:txBody>
      </p:sp>
      <p:pic>
        <p:nvPicPr>
          <p:cNvPr id="20" name="Developer photo" descr="Developer working at a desk with a laptop and handwritten notes">    </p:cNvPr>
          <p:cNvPicPr>
            <a:picLocks noChangeAspect="1"/>
          </p:cNvPicPr>
          <p:nvPr/>
        </p:nvPicPr>
        <p:blipFill>
          <a:blip r:embed="rId1"/>
          <a:srcRect l="0" r="0" t="0" b="0"/>
          <a:stretch/>
        </p:blipFill>
        <p:spPr>
          <a:xfrm>
            <a:off x="5394960" y="1325880"/>
            <a:ext cx="3200400" cy="2400300"/>
          </a:xfrm>
          <a:prstGeom prst="rect">
            <a:avLst/>
          </a:prstGeom>
        </p:spPr>
      </p:pic>
      <p:sp>
        <p:nvSpPr>
          <p:cNvPr id="21" name="Closing line"/>
          <p:cNvSpPr txBox="1"/>
          <p:nvPr/>
        </p:nvSpPr>
        <p:spPr>
          <a:xfrm>
            <a:off x="5394960" y="3863340"/>
            <a:ext cx="3200400" cy="365760"/>
          </a:xfrm>
          <a:prstGeom prst="rect">
            <a:avLst/>
          </a:prstGeom>
          <a:noFill/>
          <a:ln/>
        </p:spPr>
        <p:txBody>
          <a:bodyPr wrap="square" lIns="0" tIns="0" rIns="0" bIns="0" rtlCol="0" anchor="ctr"/>
          <a:lstStyle/>
          <a:p>
            <a:pPr indent="0" marL="0">
              <a:buNone/>
            </a:pPr>
            <a:r>
              <a:rPr lang="en-US" sz="1800" b="1" dirty="0">
                <a:solidFill>
                  <a:srgbClr val="D4A93C"/>
                </a:solidFill>
                <a:latin typeface="Cambria" pitchFamily="34" charset="0"/>
                <a:ea typeface="Cambria" pitchFamily="34" charset="-122"/>
                <a:cs typeface="Cambria" pitchFamily="34" charset="-120"/>
              </a:rPr>
              <a:t>Thank you. Questions welcome.</a:t>
            </a:r>
            <a:endParaRPr lang="en-US" sz="1800" dirty="0"/>
          </a:p>
        </p:txBody>
      </p:sp>
    </p:spTree>
  </p:cSld>
  <p:clrMapOvr>
    <a:masterClrMapping/>
  </p:clrMapOvr>
</p:sld>
</file>

<file path=ppt/theme/theme1.xml><?xml version="1.0" encoding="utf-8"?>
<a:theme xmlns:a="http://schemas.openxmlformats.org/drawingml/2006/main" name="AraCare">
  <a:themeElements>
    <a:clrScheme name="AraCare">
      <a:dk1>
        <a:srgbClr val="0B2E24"/>
      </a:dk1>
      <a:lt1>
        <a:srgbClr val="FFFFFF"/>
      </a:lt1>
      <a:dk2>
        <a:srgbClr val="14513E"/>
      </a:dk2>
      <a:lt2>
        <a:srgbClr val="EEF3F0"/>
      </a:lt2>
      <a:accent1>
        <a:srgbClr val="14513E"/>
      </a:accent1>
      <a:accent2>
        <a:srgbClr val="D4A93C"/>
      </a:accent2>
      <a:accent3>
        <a:srgbClr val="3E8E6E"/>
      </a:accent3>
      <a:accent4>
        <a:srgbClr val="9CC5B2"/>
      </a:accent4>
      <a:accent5>
        <a:srgbClr val="B5533C"/>
      </a:accent5>
      <a:accent6>
        <a:srgbClr val="6B7F77"/>
      </a:accent6>
      <a:hlink>
        <a:srgbClr val="14513E"/>
      </a:hlink>
      <a:folHlink>
        <a:srgbClr val="6B7F77"/>
      </a:folHlink>
    </a:clrScheme>
    <a:fontScheme name="AraC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AraCare Health OS: Project Defense</dc:title>
  <dc:subject>PptxGenJS Presentation</dc:subject>
  <dc:creator>AraCare</dc:creator>
  <cp:lastModifiedBy>AraCare</cp:lastModifiedBy>
  <cp:revision>1</cp:revision>
  <dcterms:created xsi:type="dcterms:W3CDTF">2026-10-06T15:48:59Z</dcterms:created>
  <dcterms:modified xsi:type="dcterms:W3CDTF">2026-10-06T15:48:59Z</dcterms:modified>
</cp:coreProperties>
</file>